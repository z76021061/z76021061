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7"/>
  </p:notesMasterIdLst>
  <p:sldIdLst>
    <p:sldId id="256" r:id="rId2"/>
    <p:sldId id="258" r:id="rId3"/>
    <p:sldId id="274" r:id="rId4"/>
    <p:sldId id="292" r:id="rId5"/>
    <p:sldId id="293" r:id="rId6"/>
    <p:sldId id="294" r:id="rId7"/>
    <p:sldId id="295" r:id="rId8"/>
    <p:sldId id="273" r:id="rId9"/>
    <p:sldId id="303" r:id="rId10"/>
    <p:sldId id="304" r:id="rId11"/>
    <p:sldId id="305" r:id="rId12"/>
    <p:sldId id="279" r:id="rId13"/>
    <p:sldId id="278" r:id="rId14"/>
    <p:sldId id="307" r:id="rId15"/>
    <p:sldId id="308" r:id="rId16"/>
    <p:sldId id="297" r:id="rId17"/>
    <p:sldId id="309" r:id="rId18"/>
    <p:sldId id="275" r:id="rId19"/>
    <p:sldId id="311" r:id="rId20"/>
    <p:sldId id="286" r:id="rId21"/>
    <p:sldId id="310" r:id="rId22"/>
    <p:sldId id="301" r:id="rId23"/>
    <p:sldId id="300" r:id="rId24"/>
    <p:sldId id="277" r:id="rId25"/>
    <p:sldId id="298" r:id="rId26"/>
    <p:sldId id="322" r:id="rId27"/>
    <p:sldId id="324" r:id="rId28"/>
    <p:sldId id="281" r:id="rId29"/>
    <p:sldId id="316" r:id="rId30"/>
    <p:sldId id="317" r:id="rId31"/>
    <p:sldId id="325" r:id="rId32"/>
    <p:sldId id="326" r:id="rId33"/>
    <p:sldId id="327" r:id="rId34"/>
    <p:sldId id="318" r:id="rId35"/>
    <p:sldId id="329" r:id="rId36"/>
    <p:sldId id="330" r:id="rId37"/>
    <p:sldId id="331" r:id="rId38"/>
    <p:sldId id="282" r:id="rId39"/>
    <p:sldId id="321" r:id="rId40"/>
    <p:sldId id="328" r:id="rId41"/>
    <p:sldId id="283" r:id="rId42"/>
    <p:sldId id="313" r:id="rId43"/>
    <p:sldId id="312" r:id="rId44"/>
    <p:sldId id="269" r:id="rId45"/>
    <p:sldId id="332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5" autoAdjust="0"/>
    <p:restoredTop sz="95842" autoAdjust="0"/>
  </p:normalViewPr>
  <p:slideViewPr>
    <p:cSldViewPr snapToGrid="0">
      <p:cViewPr varScale="1">
        <p:scale>
          <a:sx n="63" d="100"/>
          <a:sy n="63" d="100"/>
        </p:scale>
        <p:origin x="612" y="52"/>
      </p:cViewPr>
      <p:guideLst/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47F128-3515-4C17-9853-2F5D3404AB39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5259FE-8CAD-4E34-92DD-4E867D5285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158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beam.apache.org/documentation/runners/spark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我這次的報告分成六個部分</a:t>
            </a:r>
            <a:r>
              <a:rPr lang="en-US" altLang="zh-TW" dirty="0"/>
              <a:t>1.</a:t>
            </a:r>
            <a:r>
              <a:rPr lang="zh-TW" altLang="en-US" dirty="0"/>
              <a:t>首先是討論一個奇怪現象雲端為何又紅了</a:t>
            </a:r>
            <a:r>
              <a:rPr lang="en-US" altLang="zh-TW" dirty="0"/>
              <a:t>?</a:t>
            </a:r>
            <a:r>
              <a:rPr lang="zh-TW" altLang="en-US" dirty="0"/>
              <a:t> </a:t>
            </a:r>
            <a:r>
              <a:rPr lang="en-US" altLang="zh-TW" dirty="0"/>
              <a:t>,</a:t>
            </a:r>
            <a:r>
              <a:rPr lang="zh-TW" altLang="en-US" dirty="0"/>
              <a:t>調度平台很多，為何用</a:t>
            </a:r>
            <a:r>
              <a:rPr lang="en-US" altLang="zh-TW" dirty="0"/>
              <a:t>K8s?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再來分別討論</a:t>
            </a:r>
            <a:r>
              <a:rPr lang="en-US" altLang="zh-TW" dirty="0"/>
              <a:t>K8s, GKE</a:t>
            </a:r>
            <a:r>
              <a:rPr lang="zh-TW" altLang="en-US" dirty="0"/>
              <a:t>與</a:t>
            </a:r>
            <a:r>
              <a:rPr lang="en-US" altLang="zh-TW" dirty="0"/>
              <a:t> Public cloud </a:t>
            </a:r>
            <a:r>
              <a:rPr lang="zh-TW" altLang="en-US" dirty="0"/>
              <a:t>那些</a:t>
            </a:r>
            <a:r>
              <a:rPr lang="en-US" altLang="zh-TW" dirty="0"/>
              <a:t>Feature</a:t>
            </a:r>
            <a:r>
              <a:rPr lang="zh-TW" altLang="en-US" dirty="0"/>
              <a:t>可以提升</a:t>
            </a:r>
            <a:r>
              <a:rPr lang="en-US" altLang="zh-TW" dirty="0"/>
              <a:t>Spark</a:t>
            </a:r>
            <a:r>
              <a:rPr lang="zh-TW" altLang="en-US" dirty="0"/>
              <a:t>效能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中間我們會穿插個個小故事聊聊</a:t>
            </a:r>
            <a:r>
              <a:rPr lang="en-US" altLang="zh-TW" dirty="0"/>
              <a:t>Google</a:t>
            </a:r>
            <a:r>
              <a:rPr lang="zh-TW" altLang="en-US" dirty="0"/>
              <a:t>與</a:t>
            </a:r>
            <a:r>
              <a:rPr lang="en-US" altLang="zh-TW" dirty="0"/>
              <a:t>Apache</a:t>
            </a:r>
            <a:r>
              <a:rPr lang="zh-TW" altLang="en-US" dirty="0"/>
              <a:t>的恩怨情仇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接著討論</a:t>
            </a:r>
            <a:r>
              <a:rPr lang="en-US" altLang="zh-TW" dirty="0"/>
              <a:t>CNI(Container Network Interface)</a:t>
            </a:r>
            <a:r>
              <a:rPr lang="zh-TW" altLang="en-US" dirty="0"/>
              <a:t>與提升</a:t>
            </a:r>
            <a:r>
              <a:rPr lang="en-US" altLang="zh-TW" dirty="0"/>
              <a:t>Spark</a:t>
            </a:r>
            <a:r>
              <a:rPr lang="zh-TW" altLang="en-US" dirty="0"/>
              <a:t>效能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zh-TW" altLang="en-US" dirty="0"/>
              <a:t>最後分別是</a:t>
            </a:r>
            <a:r>
              <a:rPr lang="en-US" altLang="zh-TW" dirty="0"/>
              <a:t>GPU</a:t>
            </a:r>
            <a:r>
              <a:rPr lang="zh-TW" altLang="en-US" dirty="0"/>
              <a:t>與</a:t>
            </a:r>
            <a:r>
              <a:rPr lang="en-US" altLang="zh-TW" dirty="0"/>
              <a:t>K8S</a:t>
            </a:r>
            <a:r>
              <a:rPr lang="zh-TW" altLang="en-US" dirty="0"/>
              <a:t>還有</a:t>
            </a:r>
            <a:r>
              <a:rPr lang="en-US" altLang="zh-TW" dirty="0"/>
              <a:t>Mongo</a:t>
            </a:r>
            <a:r>
              <a:rPr lang="zh-TW" altLang="en-US" dirty="0"/>
              <a:t>與</a:t>
            </a:r>
            <a:r>
              <a:rPr lang="en-US" altLang="zh-TW" dirty="0"/>
              <a:t>K8s Spark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6543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一開始我們先討論一個問題，老資訊人應該都知道其實在</a:t>
            </a:r>
            <a:r>
              <a:rPr lang="en-US" altLang="zh-TW" dirty="0"/>
              <a:t>67</a:t>
            </a:r>
            <a:r>
              <a:rPr lang="zh-TW" altLang="en-US" dirty="0"/>
              <a:t>年前雲端就紅過一次 大概在</a:t>
            </a:r>
            <a:r>
              <a:rPr lang="en-US" altLang="zh-TW" dirty="0"/>
              <a:t>2012</a:t>
            </a:r>
            <a:r>
              <a:rPr lang="zh-TW" altLang="en-US" dirty="0"/>
              <a:t>年就有像</a:t>
            </a:r>
            <a:r>
              <a:rPr lang="en-US" altLang="zh-TW" dirty="0"/>
              <a:t>Cloud Foundry</a:t>
            </a:r>
            <a:r>
              <a:rPr lang="zh-TW" altLang="en-US" dirty="0"/>
              <a:t>這樣的成熟的</a:t>
            </a:r>
            <a:r>
              <a:rPr lang="en-US" altLang="zh-TW" dirty="0"/>
              <a:t>Open Source PaaS</a:t>
            </a:r>
            <a:r>
              <a:rPr lang="zh-TW" altLang="en-US" dirty="0"/>
              <a:t>軟體，那時也很多科技巨頭參與，但終究沒落，</a:t>
            </a:r>
            <a:r>
              <a:rPr lang="zh-TW" altLang="en-US" cap="none" dirty="0"/>
              <a:t>公有雲這次為何又紅了</a:t>
            </a:r>
            <a:r>
              <a:rPr lang="en-US" altLang="zh-TW" cap="none" dirty="0"/>
              <a:t>!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015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首先是容器的出現，</a:t>
            </a:r>
            <a:r>
              <a:rPr lang="en-US" altLang="zh-TW" dirty="0"/>
              <a:t>Docker</a:t>
            </a:r>
            <a:r>
              <a:rPr lang="zh-TW" altLang="en-US" dirty="0"/>
              <a:t>的前身</a:t>
            </a:r>
            <a:r>
              <a:rPr lang="en-US" altLang="zh-TW" dirty="0" err="1"/>
              <a:t>DotCloud</a:t>
            </a:r>
            <a:r>
              <a:rPr lang="zh-TW" altLang="en-US" dirty="0"/>
              <a:t>公司為了解決他們自身問題，要嘛虛擬機閒的要命要嘛就是復載過重，所以他們發明</a:t>
            </a:r>
            <a:r>
              <a:rPr lang="en-US" altLang="zh-TW" dirty="0"/>
              <a:t>Docker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用以快速打包搬遷移植用戶的應用的方案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r>
              <a:rPr lang="zh-TW" altLang="en-US" dirty="0"/>
              <a:t>，不知道大家有沒有寫過</a:t>
            </a:r>
            <a:r>
              <a:rPr lang="en-US" altLang="zh-TW" dirty="0"/>
              <a:t>python </a:t>
            </a:r>
            <a:r>
              <a:rPr lang="zh-TW" altLang="en-US" dirty="0"/>
              <a:t>，如果寫過</a:t>
            </a:r>
            <a:r>
              <a:rPr lang="en-US" altLang="zh-TW" dirty="0"/>
              <a:t>python</a:t>
            </a:r>
            <a:r>
              <a:rPr lang="zh-TW" altLang="en-US" dirty="0"/>
              <a:t>可能就看過</a:t>
            </a:r>
            <a:r>
              <a:rPr lang="en-US" altLang="zh-TW" dirty="0"/>
              <a:t>Django girl</a:t>
            </a:r>
            <a:r>
              <a:rPr lang="zh-TW" altLang="en-US" dirty="0"/>
              <a:t>這份教材，這份教材最後有教你如何進行雲端部屬，我從來沒有成功過</a:t>
            </a:r>
            <a:r>
              <a:rPr lang="en-US" altLang="zh-TW" dirty="0"/>
              <a:t>!</a:t>
            </a:r>
            <a:r>
              <a:rPr lang="zh-TW" altLang="en-US" dirty="0"/>
              <a:t> 但有了容器以後妳不用再擔心這件事，你在本地封裝的環境也就是</a:t>
            </a:r>
            <a:r>
              <a:rPr lang="en-US" altLang="zh-TW" dirty="0"/>
              <a:t>Image</a:t>
            </a:r>
            <a:r>
              <a:rPr lang="zh-TW" altLang="en-US" dirty="0"/>
              <a:t>也能毫無差異的雲端呈現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7171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讓原本的</a:t>
            </a:r>
            <a:r>
              <a:rPr lang="en-US" altLang="zh-TW" dirty="0"/>
              <a:t>”</a:t>
            </a:r>
            <a:r>
              <a:rPr lang="zh-TW" altLang="en-US" dirty="0"/>
              <a:t>圈地式調度</a:t>
            </a:r>
            <a:r>
              <a:rPr lang="en-US" altLang="zh-TW" dirty="0"/>
              <a:t>”</a:t>
            </a:r>
            <a:r>
              <a:rPr lang="zh-TW" altLang="en-US" dirty="0"/>
              <a:t>或是</a:t>
            </a:r>
            <a:r>
              <a:rPr lang="en-US" altLang="zh-TW" dirty="0"/>
              <a:t>”Docker Native</a:t>
            </a:r>
            <a:r>
              <a:rPr lang="zh-TW" altLang="en-US" dirty="0"/>
              <a:t>的侷限</a:t>
            </a:r>
            <a:r>
              <a:rPr lang="en-US" altLang="zh-TW" dirty="0"/>
              <a:t>”</a:t>
            </a:r>
            <a:r>
              <a:rPr lang="zh-TW" altLang="en-US" dirty="0"/>
              <a:t>昇華成，整體雲端資源治理</a:t>
            </a:r>
          </a:p>
          <a:p>
            <a:r>
              <a:rPr lang="zh-TW" altLang="en-US" dirty="0"/>
              <a:t>不知道大家有沒有看過北京摺疊這本書他大概的意思是說，未來的北京地狹人稠所以將北京摺成三段，早上與中午是有錢人的北京，下午是普通人的北京，深夜是窮人的北京，每天都是這樣不停的切換，我們透過</a:t>
            </a:r>
            <a:r>
              <a:rPr lang="en-US" altLang="zh-TW" dirty="0"/>
              <a:t>k8s</a:t>
            </a:r>
            <a:r>
              <a:rPr lang="zh-TW" altLang="en-US" dirty="0"/>
              <a:t>也可以實現類似的概念，早上跑</a:t>
            </a:r>
            <a:r>
              <a:rPr lang="en-US" altLang="zh-TW" dirty="0"/>
              <a:t>WEB/APP </a:t>
            </a:r>
            <a:r>
              <a:rPr lang="zh-TW" altLang="en-US" dirty="0"/>
              <a:t>晚上跑</a:t>
            </a:r>
            <a:r>
              <a:rPr lang="en-US" altLang="zh-TW" dirty="0"/>
              <a:t>AI</a:t>
            </a:r>
            <a:r>
              <a:rPr lang="zh-TW" altLang="en-US" dirty="0"/>
              <a:t> 或是</a:t>
            </a:r>
            <a:r>
              <a:rPr lang="en-US" altLang="zh-TW" dirty="0"/>
              <a:t>Batch</a:t>
            </a:r>
            <a:r>
              <a:rPr lang="zh-TW" altLang="en-US" dirty="0"/>
              <a:t>任務輕易的切換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915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再來就是</a:t>
            </a:r>
            <a:r>
              <a:rPr lang="en-US" altLang="zh-TW" dirty="0"/>
              <a:t>Infrastructure as code</a:t>
            </a:r>
            <a:r>
              <a:rPr lang="zh-TW" altLang="en-US" dirty="0"/>
              <a:t> </a:t>
            </a:r>
            <a:r>
              <a:rPr lang="en-US" altLang="zh-TW" dirty="0"/>
              <a:t>and CI/CD  tool </a:t>
            </a:r>
            <a:r>
              <a:rPr lang="zh-TW" altLang="en-US" dirty="0"/>
              <a:t>成熟 ，五分鐘就在</a:t>
            </a:r>
            <a:r>
              <a:rPr lang="en-US" altLang="zh-TW" dirty="0"/>
              <a:t>GKE</a:t>
            </a:r>
            <a:r>
              <a:rPr lang="zh-TW" altLang="en-US" dirty="0"/>
              <a:t>創造一個</a:t>
            </a:r>
            <a:r>
              <a:rPr lang="en-US" altLang="zh-TW" dirty="0"/>
              <a:t>AI/Big</a:t>
            </a:r>
            <a:r>
              <a:rPr lang="zh-TW" altLang="en-US" dirty="0"/>
              <a:t> </a:t>
            </a:r>
            <a:r>
              <a:rPr lang="en-US" altLang="zh-TW" dirty="0"/>
              <a:t>Data</a:t>
            </a:r>
            <a:r>
              <a:rPr lang="zh-TW" altLang="en-US" dirty="0"/>
              <a:t>群集，用完立即關閉</a:t>
            </a:r>
            <a:r>
              <a:rPr lang="en-US" altLang="zh-TW" dirty="0"/>
              <a:t>/</a:t>
            </a:r>
            <a:r>
              <a:rPr lang="zh-TW" altLang="en-US" dirty="0"/>
              <a:t>消失</a:t>
            </a:r>
          </a:p>
          <a:p>
            <a:r>
              <a:rPr lang="zh-TW" altLang="en-US" dirty="0"/>
              <a:t>資料放在</a:t>
            </a:r>
            <a:r>
              <a:rPr lang="en-US" altLang="zh-TW" dirty="0"/>
              <a:t>Google Storage </a:t>
            </a:r>
            <a:r>
              <a:rPr lang="zh-TW" altLang="en-US" dirty="0"/>
              <a:t>不需要額外維持</a:t>
            </a:r>
            <a:r>
              <a:rPr lang="en-US" altLang="zh-TW" dirty="0"/>
              <a:t>HDFS Cluster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6447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摩爾定律依舊狂奔，</a:t>
            </a:r>
            <a:r>
              <a:rPr lang="en-US" altLang="zh-TW" dirty="0"/>
              <a:t>AMD</a:t>
            </a:r>
            <a:r>
              <a:rPr lang="zh-TW" altLang="en-US" dirty="0"/>
              <a:t>爆發，</a:t>
            </a:r>
            <a:r>
              <a:rPr lang="en-US" altLang="zh-TW" dirty="0"/>
              <a:t>GPU/TPU/FPGA</a:t>
            </a:r>
            <a:r>
              <a:rPr lang="zh-TW" altLang="en-US" dirty="0"/>
              <a:t>的層出不窮，硬體跌價很快</a:t>
            </a:r>
            <a:r>
              <a:rPr lang="en-US" altLang="zh-TW" dirty="0"/>
              <a:t>!</a:t>
            </a:r>
          </a:p>
          <a:p>
            <a:r>
              <a:rPr lang="zh-TW" altLang="en-US" dirty="0"/>
              <a:t>我記得</a:t>
            </a:r>
            <a:r>
              <a:rPr lang="en-US" altLang="zh-TW" dirty="0"/>
              <a:t>2017</a:t>
            </a:r>
            <a:r>
              <a:rPr lang="zh-TW" altLang="en-US" dirty="0"/>
              <a:t>年我有看過</a:t>
            </a:r>
            <a:r>
              <a:rPr lang="en-US" altLang="zh-TW" dirty="0"/>
              <a:t>AWS</a:t>
            </a:r>
            <a:r>
              <a:rPr lang="zh-TW" altLang="en-US" dirty="0"/>
              <a:t>新聞稿</a:t>
            </a:r>
            <a:r>
              <a:rPr lang="en-US" altLang="zh-TW" dirty="0"/>
              <a:t>:</a:t>
            </a:r>
            <a:r>
              <a:rPr lang="zh-TW" altLang="en-US" dirty="0"/>
              <a:t> 它的意思是說</a:t>
            </a:r>
            <a:r>
              <a:rPr lang="en-US" altLang="zh-TW" dirty="0"/>
              <a:t>AWS</a:t>
            </a:r>
            <a:r>
              <a:rPr lang="zh-TW" altLang="en-US" dirty="0"/>
              <a:t>降價過</a:t>
            </a:r>
            <a:r>
              <a:rPr lang="en-US" altLang="zh-TW" dirty="0"/>
              <a:t>50</a:t>
            </a:r>
            <a:r>
              <a:rPr lang="zh-TW" altLang="en-US" dirty="0"/>
              <a:t>多次從沒漲價過，</a:t>
            </a:r>
            <a:endParaRPr lang="en-US" altLang="zh-TW" dirty="0"/>
          </a:p>
          <a:p>
            <a:r>
              <a:rPr lang="zh-TW" altLang="en-US" dirty="0"/>
              <a:t>這邊講一個小笑話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留到</a:t>
            </a:r>
            <a:r>
              <a:rPr lang="en-US" altLang="zh-TW" dirty="0"/>
              <a:t>IT</a:t>
            </a:r>
            <a:r>
              <a:rPr lang="zh-TW" altLang="en-US" dirty="0"/>
              <a:t>競賽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94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接著我們在問調度平台很多有</a:t>
            </a:r>
            <a:r>
              <a:rPr lang="en-US" altLang="zh-TW" dirty="0"/>
              <a:t>yarn </a:t>
            </a:r>
            <a:r>
              <a:rPr lang="en-US" altLang="zh-TW" dirty="0" err="1"/>
              <a:t>Messos</a:t>
            </a:r>
            <a:r>
              <a:rPr lang="en-US" altLang="zh-TW" dirty="0"/>
              <a:t> swarm</a:t>
            </a:r>
            <a:r>
              <a:rPr lang="zh-TW" altLang="en-US" dirty="0"/>
              <a:t>，為何用</a:t>
            </a:r>
            <a:r>
              <a:rPr lang="en-US" altLang="zh-TW" dirty="0"/>
              <a:t>K8s?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比起它的主要競爭對手</a:t>
            </a:r>
            <a:r>
              <a:rPr lang="en-US" altLang="zh-TW" dirty="0"/>
              <a:t>Docker Swarm</a:t>
            </a:r>
            <a:r>
              <a:rPr lang="zh-TW" altLang="en-US" dirty="0"/>
              <a:t> ，</a:t>
            </a:r>
            <a:r>
              <a:rPr lang="en-US" altLang="zh-TW" dirty="0"/>
              <a:t>K8s</a:t>
            </a:r>
            <a:r>
              <a:rPr lang="zh-TW" altLang="en-US" dirty="0"/>
              <a:t>更高明的設計 畢竟它包含了</a:t>
            </a:r>
            <a:r>
              <a:rPr lang="en-US" altLang="zh-TW" dirty="0"/>
              <a:t>google</a:t>
            </a:r>
            <a:r>
              <a:rPr lang="zh-TW" altLang="en-US" dirty="0"/>
              <a:t>多年為運經驗，這種工程經驗的累積與沉澱不是</a:t>
            </a:r>
            <a:r>
              <a:rPr lang="en-US" altLang="zh-TW" dirty="0"/>
              <a:t>Docker</a:t>
            </a:r>
            <a:r>
              <a:rPr lang="zh-TW" altLang="en-US" dirty="0"/>
              <a:t>這種年輕的新創公司可以比擬的</a:t>
            </a:r>
            <a:endParaRPr lang="en-US" altLang="zh-TW" dirty="0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1588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r>
              <a:rPr lang="en-US" altLang="zh-TW" dirty="0"/>
              <a:t>K8s</a:t>
            </a:r>
            <a:r>
              <a:rPr lang="zh-TW" altLang="en-US" dirty="0"/>
              <a:t>有更年輕有獲利的社群 </a:t>
            </a:r>
            <a:r>
              <a:rPr lang="en-US" altLang="zh-TW" dirty="0"/>
              <a:t>k8s</a:t>
            </a:r>
            <a:r>
              <a:rPr lang="zh-TW" altLang="en-US" dirty="0"/>
              <a:t>滿滿的年輕人動不動就開會動不動就討論這是老邁的</a:t>
            </a:r>
            <a:r>
              <a:rPr lang="en-US" altLang="zh-TW" dirty="0"/>
              <a:t>Apache Mesos</a:t>
            </a:r>
            <a:r>
              <a:rPr lang="zh-TW" altLang="en-US" dirty="0"/>
              <a:t> ，  甚至有大量的外部創新圍繞在周圍 例如用於快速佈署的</a:t>
            </a:r>
            <a:r>
              <a:rPr lang="en-US" altLang="zh-TW" dirty="0"/>
              <a:t>Helm</a:t>
            </a:r>
            <a:r>
              <a:rPr lang="zh-TW" altLang="en-US" dirty="0"/>
              <a:t> 多雲治理的</a:t>
            </a:r>
            <a:r>
              <a:rPr lang="en-US" altLang="zh-TW" dirty="0" err="1"/>
              <a:t>Istio</a:t>
            </a:r>
            <a:endParaRPr lang="en-US" altLang="zh-TW" dirty="0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222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/>
              <a:t>支援多種容器 </a:t>
            </a:r>
            <a:r>
              <a:rPr lang="en-US" altLang="zh-TW" dirty="0"/>
              <a:t> </a:t>
            </a:r>
            <a:r>
              <a:rPr lang="en-US" altLang="zh-TW" dirty="0" err="1"/>
              <a:t>rtk</a:t>
            </a:r>
            <a:r>
              <a:rPr lang="zh-TW" altLang="en-US" dirty="0"/>
              <a:t> </a:t>
            </a:r>
            <a:r>
              <a:rPr lang="en-US" altLang="zh-TW" dirty="0" err="1"/>
              <a:t>runC</a:t>
            </a:r>
            <a:r>
              <a:rPr lang="zh-TW" altLang="en-US" dirty="0"/>
              <a:t> </a:t>
            </a:r>
            <a:r>
              <a:rPr lang="en-US" altLang="zh-TW" dirty="0"/>
              <a:t>LXC/LXD</a:t>
            </a:r>
            <a:r>
              <a:rPr lang="zh-TW" altLang="en-US" dirty="0"/>
              <a:t> 更有彈性，可惜這次來自</a:t>
            </a:r>
            <a:r>
              <a:rPr lang="en-US" altLang="zh-TW" dirty="0" err="1"/>
              <a:t>cloudera</a:t>
            </a:r>
            <a:r>
              <a:rPr lang="zh-TW" altLang="en-US" dirty="0"/>
              <a:t>的大大沒機會來台灣演講他們的研究成果</a:t>
            </a:r>
            <a:endParaRPr lang="en-US" altLang="zh-TW" dirty="0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4808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altLang="zh-TW" dirty="0"/>
              <a:t>K8s</a:t>
            </a:r>
            <a:r>
              <a:rPr lang="zh-TW" altLang="en-US" dirty="0"/>
              <a:t>身後有</a:t>
            </a:r>
            <a:r>
              <a:rPr lang="en-US" altLang="zh-TW" dirty="0"/>
              <a:t>CNCF</a:t>
            </a:r>
            <a:r>
              <a:rPr lang="zh-TW" altLang="en-US" dirty="0"/>
              <a:t>基金會與</a:t>
            </a:r>
            <a:r>
              <a:rPr lang="en-US" altLang="zh-TW" dirty="0"/>
              <a:t>RedHat</a:t>
            </a:r>
            <a:r>
              <a:rPr lang="zh-TW" altLang="en-US" dirty="0"/>
              <a:t>與</a:t>
            </a:r>
            <a:r>
              <a:rPr lang="en-US" altLang="zh-TW" dirty="0"/>
              <a:t>Google</a:t>
            </a:r>
            <a:r>
              <a:rPr lang="zh-TW" altLang="en-US" dirty="0"/>
              <a:t>支持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REDHAT</a:t>
            </a:r>
            <a:r>
              <a:rPr lang="zh-TW" altLang="en-US" dirty="0"/>
              <a:t> 更在早期大力參與代碼的編寫，在</a:t>
            </a:r>
            <a:r>
              <a:rPr lang="en-US" altLang="zh-TW" dirty="0" err="1"/>
              <a:t>Github</a:t>
            </a:r>
            <a:r>
              <a:rPr lang="zh-TW" altLang="en-US" dirty="0"/>
              <a:t>  </a:t>
            </a:r>
            <a:r>
              <a:rPr lang="en-US" altLang="zh-TW" dirty="0"/>
              <a:t>k8s project</a:t>
            </a:r>
            <a:r>
              <a:rPr lang="zh-TW" altLang="en-US" dirty="0"/>
              <a:t>中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擁有前</a:t>
            </a:r>
            <a:r>
              <a:rPr lang="en-US" altLang="zh-TW" dirty="0"/>
              <a:t>10</a:t>
            </a:r>
            <a:r>
              <a:rPr lang="zh-TW" altLang="en-US" dirty="0"/>
              <a:t>名代碼貢獻者其中有</a:t>
            </a:r>
            <a:r>
              <a:rPr lang="en-US" altLang="zh-TW" dirty="0"/>
              <a:t>4</a:t>
            </a:r>
            <a:r>
              <a:rPr lang="zh-TW" altLang="en-US" dirty="0"/>
              <a:t>位來自</a:t>
            </a:r>
            <a:r>
              <a:rPr lang="en-US" altLang="zh-TW" dirty="0"/>
              <a:t>REDHAT</a:t>
            </a:r>
            <a:r>
              <a:rPr lang="zh-TW" altLang="en-US" dirty="0"/>
              <a:t>，使這家有</a:t>
            </a:r>
            <a:r>
              <a:rPr lang="en-US" altLang="zh-TW" dirty="0"/>
              <a:t>25</a:t>
            </a:r>
            <a:r>
              <a:rPr lang="zh-TW" altLang="en-US" dirty="0"/>
              <a:t>歷史的</a:t>
            </a:r>
            <a:r>
              <a:rPr lang="en-US" altLang="zh-TW" dirty="0"/>
              <a:t>Linux</a:t>
            </a:r>
            <a:r>
              <a:rPr lang="zh-TW" altLang="en-US" dirty="0"/>
              <a:t>領域的老公司也鹹魚大翻身讓</a:t>
            </a:r>
            <a:r>
              <a:rPr lang="en-US" altLang="zh-TW" dirty="0"/>
              <a:t>IBM</a:t>
            </a:r>
            <a:r>
              <a:rPr lang="zh-TW" altLang="en-US" dirty="0"/>
              <a:t>砸了</a:t>
            </a:r>
            <a:r>
              <a:rPr lang="en-US" altLang="zh-TW" dirty="0"/>
              <a:t>1</a:t>
            </a:r>
            <a:r>
              <a:rPr lang="zh-TW" altLang="en-US" dirty="0"/>
              <a:t>兆台幣併購，這是</a:t>
            </a:r>
            <a:endParaRPr lang="en-US" altLang="zh-TW" dirty="0"/>
          </a:p>
          <a:p>
            <a:pPr marL="0" indent="0">
              <a:buFont typeface="+mj-lt"/>
              <a:buNone/>
            </a:pPr>
            <a:r>
              <a:rPr lang="zh-TW" altLang="en-US" dirty="0"/>
              <a:t>總之</a:t>
            </a:r>
            <a:r>
              <a:rPr lang="en-US" altLang="zh-TW" dirty="0"/>
              <a:t>K8s</a:t>
            </a:r>
            <a:r>
              <a:rPr lang="zh-TW" altLang="en-US" dirty="0"/>
              <a:t>會贏不是爾然他是天時地利人和下</a:t>
            </a:r>
            <a:endParaRPr lang="en-US" altLang="zh-TW" dirty="0"/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192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TW" altLang="en-US" dirty="0"/>
              <a:t>現在講</a:t>
            </a:r>
            <a:r>
              <a:rPr lang="en-US" altLang="zh-TW" dirty="0"/>
              <a:t>what feature can improve it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089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Namespace</a:t>
            </a:r>
            <a:r>
              <a:rPr lang="zh-TW" altLang="en-US" dirty="0"/>
              <a:t> 的概念，很多程式語言都有</a:t>
            </a:r>
            <a:r>
              <a:rPr lang="en-US" altLang="zh-TW" dirty="0"/>
              <a:t>Namespace</a:t>
            </a:r>
            <a:r>
              <a:rPr lang="zh-TW" altLang="en-US" dirty="0"/>
              <a:t> 命名空間的概念比如在</a:t>
            </a:r>
            <a:r>
              <a:rPr lang="en-US" altLang="zh-TW" dirty="0"/>
              <a:t>C++</a:t>
            </a:r>
            <a:r>
              <a:rPr lang="zh-TW" altLang="en-US" dirty="0"/>
              <a:t>中我們可以透過不同的命名空間創造兩個相同名子的變數，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Namespace</a:t>
            </a:r>
            <a:r>
              <a:rPr lang="zh-TW" altLang="en-US" dirty="0"/>
              <a:t>在</a:t>
            </a:r>
            <a:r>
              <a:rPr lang="en-US" altLang="zh-TW" dirty="0"/>
              <a:t>K8s</a:t>
            </a:r>
            <a:r>
              <a:rPr lang="zh-TW" altLang="en-US" dirty="0"/>
              <a:t>也是類似的用法，比如我們可以創造一個命名空間叫做</a:t>
            </a:r>
            <a:r>
              <a:rPr lang="en-US" altLang="zh-TW" dirty="0" err="1"/>
              <a:t>Itern</a:t>
            </a:r>
            <a:r>
              <a:rPr lang="en-US" altLang="zh-TW" dirty="0"/>
              <a:t> </a:t>
            </a:r>
            <a:r>
              <a:rPr lang="zh-TW" altLang="en-US" dirty="0"/>
              <a:t>一個叫做</a:t>
            </a:r>
            <a:r>
              <a:rPr lang="en-US" altLang="zh-TW" dirty="0"/>
              <a:t>Employee</a:t>
            </a:r>
            <a:r>
              <a:rPr lang="zh-TW" altLang="en-US" dirty="0"/>
              <a:t>，就可以在各自命名空間跑各自的</a:t>
            </a:r>
            <a:r>
              <a:rPr lang="en-US" altLang="zh-TW" dirty="0"/>
              <a:t>Spark</a:t>
            </a:r>
            <a:r>
              <a:rPr lang="zh-TW" altLang="en-US" dirty="0"/>
              <a:t>部會衝突不用排隊，另外我們也可以給予兩個命名空間不同的計算資源</a:t>
            </a:r>
            <a:r>
              <a:rPr lang="en-US" altLang="zh-TW" dirty="0"/>
              <a:t>CPU/GPU</a:t>
            </a:r>
            <a:r>
              <a:rPr lang="zh-TW" altLang="en-US" dirty="0"/>
              <a:t>，這樣就算全公司都擠在同一個雲平台也不會排擠到 資深人員資源的 或資料科學家的工作，同時</a:t>
            </a:r>
            <a:r>
              <a:rPr lang="en-US" altLang="zh-TW" dirty="0">
                <a:highlight>
                  <a:srgbClr val="FFFF00"/>
                </a:highlight>
              </a:rPr>
              <a:t>Namespace</a:t>
            </a:r>
            <a:r>
              <a:rPr lang="zh-TW" altLang="en-US" dirty="0"/>
              <a:t>是軟隔離方式可以動態更改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4467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接下來是</a:t>
            </a:r>
            <a:r>
              <a:rPr lang="en-US" altLang="zh-TW" dirty="0"/>
              <a:t>Lebel</a:t>
            </a:r>
            <a:r>
              <a:rPr lang="zh-TW" altLang="en-US" dirty="0"/>
              <a:t> 透過</a:t>
            </a:r>
            <a:r>
              <a:rPr lang="en-US" altLang="zh-TW" dirty="0" err="1"/>
              <a:t>Lebal</a:t>
            </a:r>
            <a:r>
              <a:rPr lang="zh-TW" altLang="en-US" dirty="0"/>
              <a:t>我們可以將</a:t>
            </a:r>
            <a:r>
              <a:rPr lang="en-US" altLang="zh-TW" dirty="0"/>
              <a:t>IO</a:t>
            </a:r>
            <a:r>
              <a:rPr lang="zh-TW" altLang="en-US" dirty="0"/>
              <a:t>強大的節點分配給</a:t>
            </a:r>
            <a:r>
              <a:rPr lang="en-US" altLang="zh-TW" dirty="0"/>
              <a:t>Data Source</a:t>
            </a:r>
            <a:r>
              <a:rPr lang="zh-TW" altLang="en-US" dirty="0"/>
              <a:t>，擁有眾多計算能力的節點分配給</a:t>
            </a:r>
            <a:r>
              <a:rPr lang="en-US" altLang="zh-TW" dirty="0"/>
              <a:t>AI</a:t>
            </a:r>
            <a:r>
              <a:rPr lang="zh-TW" altLang="en-US" dirty="0"/>
              <a:t>系統，具體來說我們可以創造一個</a:t>
            </a:r>
            <a:r>
              <a:rPr lang="en-US" altLang="zh-TW" dirty="0" err="1"/>
              <a:t>Lebal</a:t>
            </a:r>
            <a:r>
              <a:rPr lang="en-US" altLang="zh-TW" dirty="0"/>
              <a:t> P80GPU</a:t>
            </a:r>
            <a:r>
              <a:rPr lang="zh-TW" altLang="en-US" dirty="0"/>
              <a:t>並把它貼在有</a:t>
            </a:r>
            <a:r>
              <a:rPr lang="en-US" altLang="zh-TW" dirty="0"/>
              <a:t>P80GPU</a:t>
            </a:r>
            <a:r>
              <a:rPr lang="zh-TW" altLang="en-US" dirty="0"/>
              <a:t>的節點上，並在我們</a:t>
            </a:r>
            <a:r>
              <a:rPr lang="en-US" altLang="zh-TW" dirty="0"/>
              <a:t>spark </a:t>
            </a:r>
            <a:r>
              <a:rPr lang="zh-TW" altLang="en-US" dirty="0"/>
              <a:t>的</a:t>
            </a:r>
            <a:r>
              <a:rPr lang="en-US" altLang="zh-TW" dirty="0" err="1"/>
              <a:t>yaml</a:t>
            </a:r>
            <a:r>
              <a:rPr lang="zh-TW" altLang="en-US" dirty="0"/>
              <a:t>中添加</a:t>
            </a:r>
            <a:r>
              <a:rPr lang="en-US" altLang="zh-TW" dirty="0">
                <a:highlight>
                  <a:srgbClr val="FFFF00"/>
                </a:highlight>
              </a:rPr>
              <a:t>Lebel Selector</a:t>
            </a:r>
            <a:r>
              <a:rPr lang="zh-TW" altLang="en-US" dirty="0">
                <a:highlight>
                  <a:srgbClr val="FFFF00"/>
                </a:highlight>
              </a:rPr>
              <a:t> </a:t>
            </a:r>
            <a:r>
              <a:rPr lang="en-US" altLang="zh-TW" dirty="0">
                <a:highlight>
                  <a:srgbClr val="FFFF00"/>
                </a:highlight>
              </a:rPr>
              <a:t>:</a:t>
            </a:r>
            <a:r>
              <a:rPr lang="zh-TW" altLang="en-US" dirty="0">
                <a:highlight>
                  <a:srgbClr val="FFFF00"/>
                </a:highlight>
              </a:rPr>
              <a:t> </a:t>
            </a:r>
            <a:r>
              <a:rPr lang="en-US" altLang="zh-TW" dirty="0">
                <a:highlight>
                  <a:srgbClr val="FFFF00"/>
                </a:highlight>
              </a:rPr>
              <a:t>P80GPU</a:t>
            </a:r>
            <a:r>
              <a:rPr lang="zh-TW" altLang="en-US" dirty="0">
                <a:highlight>
                  <a:srgbClr val="FFFF00"/>
                </a:highlight>
              </a:rPr>
              <a:t>，那</a:t>
            </a:r>
            <a:r>
              <a:rPr lang="en-US" altLang="zh-TW" dirty="0">
                <a:highlight>
                  <a:srgbClr val="FFFF00"/>
                </a:highlight>
              </a:rPr>
              <a:t>spark</a:t>
            </a:r>
            <a:r>
              <a:rPr lang="zh-TW" altLang="en-US" dirty="0">
                <a:highlight>
                  <a:srgbClr val="FFFF00"/>
                </a:highlight>
              </a:rPr>
              <a:t>運行時</a:t>
            </a:r>
            <a:r>
              <a:rPr lang="en-US" altLang="zh-TW" dirty="0">
                <a:highlight>
                  <a:srgbClr val="FFFF00"/>
                </a:highlight>
              </a:rPr>
              <a:t>K8s</a:t>
            </a:r>
            <a:r>
              <a:rPr lang="zh-TW" altLang="en-US" dirty="0">
                <a:highlight>
                  <a:srgbClr val="FFFF00"/>
                </a:highlight>
              </a:rPr>
              <a:t>系統就會幫我們把</a:t>
            </a:r>
            <a:r>
              <a:rPr lang="en-US" altLang="zh-TW" dirty="0">
                <a:highlight>
                  <a:srgbClr val="FFFF00"/>
                </a:highlight>
              </a:rPr>
              <a:t>spark</a:t>
            </a:r>
            <a:r>
              <a:rPr lang="zh-TW" altLang="en-US" dirty="0">
                <a:highlight>
                  <a:srgbClr val="FFFF00"/>
                </a:highlight>
              </a:rPr>
              <a:t>分配到有</a:t>
            </a:r>
            <a:r>
              <a:rPr lang="en-US" altLang="zh-TW" dirty="0">
                <a:highlight>
                  <a:srgbClr val="FFFF00"/>
                </a:highlight>
              </a:rPr>
              <a:t>P80GPU</a:t>
            </a:r>
            <a:r>
              <a:rPr lang="zh-TW" altLang="en-US" dirty="0">
                <a:highlight>
                  <a:srgbClr val="FFFF00"/>
                </a:highlight>
              </a:rPr>
              <a:t> </a:t>
            </a:r>
            <a:r>
              <a:rPr lang="en-US" altLang="zh-TW" dirty="0" err="1">
                <a:highlight>
                  <a:srgbClr val="FFFF00"/>
                </a:highlight>
              </a:rPr>
              <a:t>lebal</a:t>
            </a:r>
            <a:r>
              <a:rPr lang="zh-TW" altLang="en-US" dirty="0">
                <a:highlight>
                  <a:srgbClr val="FFFF00"/>
                </a:highlight>
              </a:rPr>
              <a:t>的節點上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6695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第三點是</a:t>
            </a:r>
            <a:r>
              <a:rPr lang="en-US" altLang="zh-TW" dirty="0"/>
              <a:t>Taint</a:t>
            </a:r>
            <a:r>
              <a:rPr lang="zh-TW" altLang="en-US" dirty="0"/>
              <a:t>的概念，</a:t>
            </a:r>
            <a:r>
              <a:rPr lang="en-US" altLang="zh-TW" dirty="0"/>
              <a:t>Taint</a:t>
            </a:r>
            <a:r>
              <a:rPr lang="zh-TW" altLang="en-US" dirty="0"/>
              <a:t>讓我們可以在晚上時或</a:t>
            </a:r>
            <a:r>
              <a:rPr lang="en-US" altLang="zh-TW" dirty="0"/>
              <a:t>CPU</a:t>
            </a:r>
            <a:r>
              <a:rPr lang="zh-TW" altLang="en-US" dirty="0"/>
              <a:t>利用率較低時 我們可以透過 汙染</a:t>
            </a:r>
            <a:r>
              <a:rPr lang="en-US" altLang="zh-TW" dirty="0"/>
              <a:t>Taint</a:t>
            </a:r>
            <a:r>
              <a:rPr lang="zh-TW" altLang="en-US" dirty="0"/>
              <a:t>的方式 趕走節點上原本的應用使它們集中在沒有被汙覽的節點上一塊，那麼那些被汙覽，而空出來的節點 拿去做計算 或是訓練模型或是跑每天需要</a:t>
            </a:r>
            <a:r>
              <a:rPr lang="en-US" altLang="zh-TW" dirty="0"/>
              <a:t>batch</a:t>
            </a:r>
            <a:r>
              <a:rPr lang="zh-TW" altLang="en-US" dirty="0"/>
              <a:t>任務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146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CPU Manager, </a:t>
            </a:r>
            <a:r>
              <a:rPr lang="zh-TW" altLang="en-US" dirty="0"/>
              <a:t>讓 </a:t>
            </a:r>
            <a:r>
              <a:rPr lang="en-US" altLang="zh-TW" dirty="0"/>
              <a:t>Spark </a:t>
            </a:r>
            <a:r>
              <a:rPr lang="zh-TW" altLang="en-US" dirty="0"/>
              <a:t>的</a:t>
            </a:r>
            <a:r>
              <a:rPr lang="en-US" altLang="zh-TW" dirty="0"/>
              <a:t>executors</a:t>
            </a:r>
            <a:r>
              <a:rPr lang="zh-TW" altLang="en-US" dirty="0"/>
              <a:t>獨佔</a:t>
            </a:r>
            <a:r>
              <a:rPr lang="en-US" altLang="zh-TW" dirty="0"/>
              <a:t>CPU</a:t>
            </a:r>
            <a:r>
              <a:rPr lang="zh-TW" altLang="en-US" dirty="0"/>
              <a:t>核心增加</a:t>
            </a:r>
            <a:r>
              <a:rPr lang="en-US" altLang="zh-TW" dirty="0"/>
              <a:t>cache</a:t>
            </a:r>
            <a:r>
              <a:rPr lang="zh-TW" altLang="en-US" dirty="0"/>
              <a:t>命中率，減少讀取</a:t>
            </a:r>
            <a:r>
              <a:rPr lang="en-US" altLang="zh-TW" dirty="0"/>
              <a:t>MEM</a:t>
            </a:r>
            <a:r>
              <a:rPr lang="zh-TW" altLang="en-US" dirty="0"/>
              <a:t>次數，讀 </a:t>
            </a:r>
            <a:r>
              <a:rPr lang="en-US" altLang="zh-TW" dirty="0"/>
              <a:t>MEM</a:t>
            </a:r>
            <a:r>
              <a:rPr lang="zh-TW" altLang="en-US" dirty="0"/>
              <a:t>不僅比較慢，同時</a:t>
            </a:r>
            <a:r>
              <a:rPr lang="en-US" altLang="zh-TW" dirty="0"/>
              <a:t>MEM</a:t>
            </a:r>
            <a:r>
              <a:rPr lang="zh-TW" altLang="en-US" dirty="0"/>
              <a:t>是所有</a:t>
            </a:r>
            <a:r>
              <a:rPr lang="en-US" altLang="zh-TW" dirty="0"/>
              <a:t>CPU</a:t>
            </a:r>
            <a:r>
              <a:rPr lang="zh-TW" altLang="en-US" dirty="0"/>
              <a:t>核心共用如右圖，假如</a:t>
            </a:r>
            <a:r>
              <a:rPr lang="en-US" altLang="zh-TW" dirty="0"/>
              <a:t>CPU1</a:t>
            </a:r>
            <a:r>
              <a:rPr lang="zh-TW" altLang="en-US" dirty="0"/>
              <a:t>在讀取</a:t>
            </a:r>
            <a:r>
              <a:rPr lang="en-US" altLang="zh-TW" dirty="0"/>
              <a:t>MEM CPU2</a:t>
            </a:r>
            <a:r>
              <a:rPr lang="zh-TW" altLang="en-US" dirty="0"/>
              <a:t>就得等待，</a:t>
            </a:r>
            <a:r>
              <a:rPr lang="en-US" altLang="zh-TW" dirty="0"/>
              <a:t>CPU3</a:t>
            </a:r>
            <a:r>
              <a:rPr lang="zh-TW" altLang="en-US" dirty="0"/>
              <a:t>就得等待，讀一次記憶體莫約需要幾百個計算週期，盡量讓程序命中</a:t>
            </a:r>
            <a:r>
              <a:rPr lang="en-US" altLang="zh-TW" dirty="0"/>
              <a:t>cache</a:t>
            </a:r>
            <a:r>
              <a:rPr lang="zh-TW" altLang="en-US" dirty="0"/>
              <a:t>減少互相等待其他</a:t>
            </a:r>
            <a:r>
              <a:rPr lang="en-US" altLang="zh-TW" dirty="0"/>
              <a:t>CPU</a:t>
            </a:r>
            <a:r>
              <a:rPr lang="zh-TW" altLang="en-US" dirty="0"/>
              <a:t>讀取</a:t>
            </a:r>
            <a:r>
              <a:rPr lang="en-US" altLang="zh-TW" dirty="0"/>
              <a:t>MEM</a:t>
            </a:r>
            <a:r>
              <a:rPr lang="zh-TW" altLang="en-US" dirty="0"/>
              <a:t>時間可以有效減少任務執行時間</a:t>
            </a:r>
            <a:endParaRPr lang="en-US" altLang="zh-TW" dirty="0"/>
          </a:p>
          <a:p>
            <a:r>
              <a:rPr lang="zh-TW" altLang="en-US" dirty="0"/>
              <a:t>，另外</a:t>
            </a:r>
            <a:r>
              <a:rPr lang="en-US" altLang="zh-TW" dirty="0"/>
              <a:t>CPU Manager,</a:t>
            </a:r>
            <a:r>
              <a:rPr lang="zh-TW" altLang="en-US" dirty="0"/>
              <a:t>也避免多個進程爭搶</a:t>
            </a:r>
            <a:r>
              <a:rPr lang="en-US" altLang="zh-TW" dirty="0"/>
              <a:t>CPU</a:t>
            </a:r>
            <a:r>
              <a:rPr lang="zh-TW" altLang="en-US" dirty="0"/>
              <a:t>資源而頻繁產生上</a:t>
            </a:r>
            <a:r>
              <a:rPr lang="en-US" altLang="zh-TW" dirty="0"/>
              <a:t>context switch</a:t>
            </a:r>
            <a:r>
              <a:rPr lang="zh-TW" altLang="en-US" dirty="0"/>
              <a:t>下文切換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553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Anti-affinity:</a:t>
            </a:r>
            <a:r>
              <a:rPr lang="zh-TW" altLang="en-US" dirty="0"/>
              <a:t> 將</a:t>
            </a:r>
            <a:r>
              <a:rPr lang="en-US" altLang="zh-TW" dirty="0"/>
              <a:t>SPARK executors </a:t>
            </a:r>
            <a:r>
              <a:rPr lang="zh-TW" altLang="en-US" dirty="0"/>
              <a:t>打散在不同的節點，為什麼要這樣做呢</a:t>
            </a:r>
            <a:r>
              <a:rPr lang="en-US" altLang="zh-TW" dirty="0"/>
              <a:t>?;</a:t>
            </a:r>
            <a:r>
              <a:rPr lang="zh-TW" altLang="en-US" dirty="0"/>
              <a:t> </a:t>
            </a:r>
            <a:r>
              <a:rPr lang="en-US" altLang="zh-TW" dirty="0"/>
              <a:t>Spark</a:t>
            </a:r>
            <a:r>
              <a:rPr lang="zh-TW" altLang="en-US" dirty="0"/>
              <a:t>這類的分散式運算系統會有常伴隨網路</a:t>
            </a:r>
            <a:r>
              <a:rPr lang="en-US" altLang="zh-TW" dirty="0"/>
              <a:t>IO</a:t>
            </a:r>
            <a:r>
              <a:rPr lang="zh-TW" altLang="en-US" dirty="0"/>
              <a:t>，所以我們透過</a:t>
            </a:r>
            <a:r>
              <a:rPr lang="en-US" altLang="zh-TW" dirty="0"/>
              <a:t>Anti-affinity</a:t>
            </a:r>
            <a:r>
              <a:rPr lang="zh-TW" altLang="en-US" dirty="0"/>
              <a:t>將</a:t>
            </a:r>
            <a:r>
              <a:rPr lang="en-US" altLang="zh-TW" dirty="0"/>
              <a:t>SPARK executors </a:t>
            </a:r>
            <a:r>
              <a:rPr lang="zh-TW" altLang="en-US" dirty="0"/>
              <a:t>打散在不同節點上或是物理機上，，這是</a:t>
            </a:r>
            <a:r>
              <a:rPr lang="en-US" altLang="zh-TW" dirty="0"/>
              <a:t>Spark</a:t>
            </a:r>
            <a:r>
              <a:rPr lang="zh-TW" altLang="en-US" dirty="0"/>
              <a:t>官方推薦的執行方式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66281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4400" dirty="0"/>
              <a:t>提供雲端</a:t>
            </a:r>
            <a:r>
              <a:rPr lang="en-US" altLang="zh-TW" sz="4400" dirty="0"/>
              <a:t>K8s</a:t>
            </a:r>
            <a:r>
              <a:rPr lang="zh-TW" altLang="en-US" sz="4400" dirty="0"/>
              <a:t>服務的廠商很多，為何我們要選</a:t>
            </a:r>
            <a:r>
              <a:rPr lang="en-US" altLang="zh-TW" sz="4400" dirty="0"/>
              <a:t>Google</a:t>
            </a:r>
            <a:r>
              <a:rPr lang="zh-TW" altLang="en-US" sz="4400" dirty="0"/>
              <a:t>，相比於</a:t>
            </a:r>
            <a:r>
              <a:rPr lang="en-US" altLang="zh-TW" sz="4400" dirty="0"/>
              <a:t>AWS ,ANSURE GCP</a:t>
            </a:r>
            <a:r>
              <a:rPr lang="zh-TW" altLang="en-US" sz="4400" dirty="0"/>
              <a:t>的</a:t>
            </a:r>
            <a:r>
              <a:rPr lang="en-US" altLang="zh-TW" sz="4400" dirty="0"/>
              <a:t>GKE</a:t>
            </a:r>
            <a:r>
              <a:rPr lang="zh-TW" altLang="en-US" sz="4400" dirty="0"/>
              <a:t>部屬只要</a:t>
            </a:r>
            <a:r>
              <a:rPr lang="en-US" altLang="zh-TW" sz="4400" dirty="0"/>
              <a:t>5</a:t>
            </a:r>
            <a:r>
              <a:rPr lang="zh-TW" altLang="en-US" sz="4400" dirty="0"/>
              <a:t>分鐘，這意味著我們可以在要訓練模型時才快速模部屬節點，算完就刪掉非常節省</a:t>
            </a:r>
            <a:endParaRPr lang="en-US" altLang="zh-TW" sz="4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4400" dirty="0"/>
              <a:t>當然最棒的一點就是 </a:t>
            </a:r>
            <a:r>
              <a:rPr lang="en-US" altLang="zh-TW" sz="4400" dirty="0"/>
              <a:t>GKE</a:t>
            </a:r>
            <a:r>
              <a:rPr lang="zh-TW" altLang="en-US" sz="4400" dirty="0"/>
              <a:t>的</a:t>
            </a:r>
            <a:r>
              <a:rPr lang="en-US" altLang="zh-TW" sz="4400" dirty="0"/>
              <a:t>Master of k8s is free</a:t>
            </a:r>
            <a:r>
              <a:rPr lang="zh-TW" altLang="en-US" sz="4400" dirty="0"/>
              <a:t> ，不用負擔</a:t>
            </a:r>
            <a:r>
              <a:rPr lang="en-US" altLang="zh-TW" sz="4400" dirty="0"/>
              <a:t>Master</a:t>
            </a:r>
            <a:r>
              <a:rPr lang="zh-TW" altLang="en-US" sz="4400" dirty="0"/>
              <a:t>運維與成本</a:t>
            </a:r>
            <a:endParaRPr lang="en-US" altLang="zh-TW" sz="4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400" dirty="0">
                <a:solidFill>
                  <a:schemeClr val="dk1"/>
                </a:solidFill>
              </a:rPr>
              <a:t>Preemptible  node</a:t>
            </a:r>
            <a:r>
              <a:rPr lang="zh-TW" altLang="en-US" sz="4400" dirty="0">
                <a:solidFill>
                  <a:schemeClr val="dk1"/>
                </a:solidFill>
              </a:rPr>
              <a:t> 有穩定 </a:t>
            </a:r>
            <a:r>
              <a:rPr lang="en-US" altLang="zh-TW" sz="4400" dirty="0">
                <a:solidFill>
                  <a:schemeClr val="dk1"/>
                </a:solidFill>
              </a:rPr>
              <a:t> (50% Off) </a:t>
            </a:r>
            <a:r>
              <a:rPr lang="zh-TW" altLang="en-US" sz="4400" dirty="0">
                <a:solidFill>
                  <a:schemeClr val="dk1"/>
                </a:solidFill>
              </a:rPr>
              <a:t>但是它有個缺點只能存活小於</a:t>
            </a:r>
            <a:r>
              <a:rPr lang="en-US" altLang="zh-TW" sz="4400" dirty="0">
                <a:solidFill>
                  <a:schemeClr val="dk1"/>
                </a:solidFill>
              </a:rPr>
              <a:t>24</a:t>
            </a:r>
            <a:r>
              <a:rPr lang="zh-TW" altLang="en-US" sz="4400" dirty="0">
                <a:solidFill>
                  <a:schemeClr val="dk1"/>
                </a:solidFill>
              </a:rPr>
              <a:t>小時也就是可能算到一半節點就被</a:t>
            </a:r>
            <a:r>
              <a:rPr lang="en-US" altLang="zh-TW" sz="4400" dirty="0">
                <a:solidFill>
                  <a:schemeClr val="dk1"/>
                </a:solidFill>
              </a:rPr>
              <a:t>cancel</a:t>
            </a:r>
            <a:r>
              <a:rPr lang="zh-TW" altLang="en-US" sz="4400" dirty="0">
                <a:solidFill>
                  <a:schemeClr val="dk1"/>
                </a:solidFill>
              </a:rPr>
              <a:t>了 不過不用擔心</a:t>
            </a:r>
            <a:r>
              <a:rPr lang="en-US" altLang="zh-TW" sz="4400" dirty="0">
                <a:solidFill>
                  <a:schemeClr val="dk1"/>
                </a:solidFill>
              </a:rPr>
              <a:t>spark</a:t>
            </a:r>
            <a:r>
              <a:rPr lang="zh-TW" altLang="en-US" sz="4400" dirty="0">
                <a:solidFill>
                  <a:schemeClr val="dk1"/>
                </a:solidFill>
              </a:rPr>
              <a:t>奔來就有容錯能力，</a:t>
            </a:r>
            <a:endParaRPr lang="en-US" altLang="zh-TW" sz="4400" dirty="0">
              <a:solidFill>
                <a:schemeClr val="dk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4400" dirty="0">
                <a:solidFill>
                  <a:srgbClr val="FF0000"/>
                </a:solidFill>
              </a:rPr>
              <a:t>最重要的一點是</a:t>
            </a:r>
            <a:r>
              <a:rPr lang="en-US" altLang="zh-TW" sz="4400" dirty="0">
                <a:solidFill>
                  <a:srgbClr val="FF0000"/>
                </a:solidFill>
              </a:rPr>
              <a:t>Support Calico CNI</a:t>
            </a:r>
            <a:r>
              <a:rPr lang="zh-TW" altLang="en-US" sz="4400" dirty="0">
                <a:solidFill>
                  <a:srgbClr val="FF0000"/>
                </a:solidFill>
              </a:rPr>
              <a:t> 在</a:t>
            </a:r>
            <a:r>
              <a:rPr lang="en-US" altLang="zh-TW" sz="4400" dirty="0">
                <a:solidFill>
                  <a:srgbClr val="FF0000"/>
                </a:solidFill>
              </a:rPr>
              <a:t>intel</a:t>
            </a:r>
            <a:r>
              <a:rPr lang="zh-TW" altLang="en-US" sz="4400" dirty="0">
                <a:solidFill>
                  <a:srgbClr val="FF0000"/>
                </a:solidFill>
              </a:rPr>
              <a:t> 與華韋分享的報告中指出</a:t>
            </a:r>
            <a:r>
              <a:rPr lang="en-US" altLang="zh-TW" sz="4400" dirty="0">
                <a:solidFill>
                  <a:srgbClr val="FF0000"/>
                </a:solidFill>
              </a:rPr>
              <a:t>Calico</a:t>
            </a:r>
            <a:r>
              <a:rPr lang="zh-TW" altLang="en-US" sz="4400" dirty="0">
                <a:solidFill>
                  <a:srgbClr val="FF0000"/>
                </a:solidFill>
              </a:rPr>
              <a:t>可以有效提升</a:t>
            </a:r>
            <a:r>
              <a:rPr lang="en-US" altLang="zh-TW" sz="4400" dirty="0">
                <a:solidFill>
                  <a:srgbClr val="FF0000"/>
                </a:solidFill>
              </a:rPr>
              <a:t>Spark</a:t>
            </a:r>
            <a:r>
              <a:rPr lang="zh-TW" altLang="en-US" sz="4400" dirty="0">
                <a:solidFill>
                  <a:srgbClr val="FF0000"/>
                </a:solidFill>
              </a:rPr>
              <a:t>效能</a:t>
            </a:r>
            <a:r>
              <a:rPr lang="en-US" altLang="zh-TW" sz="4400" dirty="0">
                <a:solidFill>
                  <a:srgbClr val="FF0000"/>
                </a:solidFill>
              </a:rPr>
              <a:t>(</a:t>
            </a:r>
            <a:r>
              <a:rPr lang="zh-TW" altLang="en-US" sz="4400" dirty="0">
                <a:solidFill>
                  <a:srgbClr val="FF0000"/>
                </a:solidFill>
              </a:rPr>
              <a:t>後面解釋</a:t>
            </a:r>
            <a:r>
              <a:rPr lang="en-US" altLang="zh-TW" sz="4400" dirty="0">
                <a:solidFill>
                  <a:srgbClr val="FF0000"/>
                </a:solidFill>
              </a:rPr>
              <a:t>Calico</a:t>
            </a:r>
            <a:r>
              <a:rPr lang="zh-TW" altLang="en-US" sz="4400" dirty="0">
                <a:solidFill>
                  <a:srgbClr val="FF0000"/>
                </a:solidFill>
              </a:rPr>
              <a:t>原理</a:t>
            </a:r>
            <a:r>
              <a:rPr lang="en-US" altLang="zh-TW" sz="4400" dirty="0">
                <a:solidFill>
                  <a:srgbClr val="FF0000"/>
                </a:solidFill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4400" dirty="0">
              <a:solidFill>
                <a:schemeClr val="dk1"/>
              </a:solidFill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1078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cap="none" dirty="0"/>
              <a:t>Google</a:t>
            </a:r>
            <a:r>
              <a:rPr lang="zh-TW" altLang="en-US" cap="none" dirty="0"/>
              <a:t>與</a:t>
            </a:r>
            <a:r>
              <a:rPr lang="en-US" altLang="zh-TW" dirty="0"/>
              <a:t>Apache</a:t>
            </a:r>
            <a:r>
              <a:rPr lang="zh-TW" altLang="en-US" cap="none" dirty="0"/>
              <a:t>的恩怨情仇</a:t>
            </a:r>
            <a:endParaRPr lang="en-US" altLang="zh-TW" cap="none" dirty="0"/>
          </a:p>
          <a:p>
            <a:r>
              <a:rPr lang="zh-TW" altLang="en-US" dirty="0"/>
              <a:t>話說</a:t>
            </a:r>
            <a:r>
              <a:rPr lang="en-US" altLang="zh-TW" dirty="0"/>
              <a:t>Doug Cutting </a:t>
            </a:r>
            <a:r>
              <a:rPr lang="zh-TW" altLang="en-US" dirty="0"/>
              <a:t>大神當年根据谷歌的论文实现出 </a:t>
            </a:r>
            <a:r>
              <a:rPr lang="en-US" altLang="zh-TW" dirty="0" err="1"/>
              <a:t>Hadoop+MapReduce</a:t>
            </a:r>
            <a:endParaRPr lang="en-US" altLang="zh-TW" dirty="0"/>
          </a:p>
          <a:p>
            <a:r>
              <a:rPr lang="en-US" altLang="zh-TW" dirty="0"/>
              <a:t>Google</a:t>
            </a:r>
            <a:r>
              <a:rPr lang="zh-TW" altLang="en-US" dirty="0"/>
              <a:t>當時只滿足於學術成就，一回首</a:t>
            </a:r>
            <a:r>
              <a:rPr lang="en-US" altLang="zh-TW" dirty="0"/>
              <a:t>Hadoop</a:t>
            </a:r>
            <a:r>
              <a:rPr lang="zh-TW" altLang="en-US" dirty="0"/>
              <a:t>之苗已長成巨大的森林</a:t>
            </a:r>
            <a:endParaRPr lang="en-US" altLang="zh-TW" dirty="0"/>
          </a:p>
          <a:p>
            <a:r>
              <a:rPr lang="zh-TW" altLang="en-US" dirty="0"/>
              <a:t>還誕生了三隻獨角獸</a:t>
            </a:r>
            <a:r>
              <a:rPr lang="en-US" altLang="zh-TW" dirty="0"/>
              <a:t>Cloudera Hortonworks MAPR</a:t>
            </a:r>
            <a:r>
              <a:rPr lang="zh-TW" altLang="en-US" dirty="0"/>
              <a:t> 漫步其中</a:t>
            </a:r>
            <a:endParaRPr lang="en-US" altLang="zh-TW" dirty="0"/>
          </a:p>
          <a:p>
            <a:r>
              <a:rPr lang="zh-TW" altLang="en-US" dirty="0"/>
              <a:t>那麼大的餅</a:t>
            </a:r>
            <a:r>
              <a:rPr lang="en-US" altLang="zh-TW" dirty="0"/>
              <a:t>Google</a:t>
            </a:r>
            <a:r>
              <a:rPr lang="zh-TW" altLang="en-US" dirty="0"/>
              <a:t>當然要分一杯羹拉，於是開源了</a:t>
            </a:r>
            <a:r>
              <a:rPr lang="en-US" altLang="zh-TW" dirty="0"/>
              <a:t>Apache Beam </a:t>
            </a:r>
            <a:r>
              <a:rPr lang="zh-TW" altLang="en-US" dirty="0"/>
              <a:t>希望加入</a:t>
            </a:r>
            <a:r>
              <a:rPr lang="en-US" altLang="zh-TW" dirty="0"/>
              <a:t>Hadoop</a:t>
            </a:r>
            <a:r>
              <a:rPr lang="zh-TW" altLang="en-US" dirty="0"/>
              <a:t>生態系，但是只有</a:t>
            </a:r>
            <a:r>
              <a:rPr lang="en-US" altLang="zh-TW" dirty="0" err="1"/>
              <a:t>Flink</a:t>
            </a:r>
            <a:r>
              <a:rPr lang="zh-TW" altLang="en-US" dirty="0"/>
              <a:t> 願意合作，而</a:t>
            </a:r>
            <a:r>
              <a:rPr lang="en-US" altLang="zh-TW" dirty="0" err="1"/>
              <a:t>Flink</a:t>
            </a:r>
            <a:r>
              <a:rPr lang="zh-TW" altLang="en-US" dirty="0"/>
              <a:t>加入的目的只是為了藉</a:t>
            </a:r>
            <a:r>
              <a:rPr lang="en-US" altLang="zh-TW" dirty="0"/>
              <a:t>Google</a:t>
            </a:r>
            <a:r>
              <a:rPr lang="zh-TW" altLang="en-US" dirty="0"/>
              <a:t>之力打敗</a:t>
            </a:r>
            <a:r>
              <a:rPr lang="en-US" altLang="zh-TW" dirty="0"/>
              <a:t>Spark</a:t>
            </a:r>
            <a:endParaRPr lang="en-US" altLang="zh-TW" dirty="0">
              <a:hlinkClick r:id="rId3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87958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1" dirty="0">
                <a:highlight>
                  <a:srgbClr val="FFFF00"/>
                </a:highlight>
              </a:rPr>
              <a:t>招式一</a:t>
            </a:r>
            <a:r>
              <a:rPr lang="en-US" altLang="zh-TW" b="1" dirty="0">
                <a:highlight>
                  <a:srgbClr val="FFFF00"/>
                </a:highlight>
              </a:rPr>
              <a:t>: </a:t>
            </a:r>
            <a:r>
              <a:rPr lang="zh-TW" altLang="en-US" b="1" dirty="0">
                <a:highlight>
                  <a:srgbClr val="FFFF00"/>
                </a:highlight>
              </a:rPr>
              <a:t>從整體資源管理入手</a:t>
            </a:r>
            <a:r>
              <a:rPr lang="en-US" altLang="zh-TW" b="1" dirty="0">
                <a:highlight>
                  <a:srgbClr val="FFFF00"/>
                </a:highlight>
              </a:rPr>
              <a:t>:</a:t>
            </a:r>
            <a:r>
              <a:rPr lang="zh-TW" altLang="en-US" b="1" dirty="0">
                <a:highlight>
                  <a:srgbClr val="FFFF00"/>
                </a:highlight>
              </a:rPr>
              <a:t>  </a:t>
            </a:r>
            <a:endParaRPr lang="en-US" altLang="zh-TW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zh-TW" dirty="0"/>
              <a:t>A</a:t>
            </a:r>
          </a:p>
          <a:p>
            <a:pPr marL="0" indent="0">
              <a:buNone/>
            </a:pPr>
            <a:r>
              <a:rPr lang="en-US" altLang="zh-TW" dirty="0"/>
              <a:t>I</a:t>
            </a:r>
            <a:r>
              <a:rPr lang="zh-TW" altLang="en-US" dirty="0"/>
              <a:t>作為公司業務的一部分卻被排除在整體</a:t>
            </a:r>
            <a:r>
              <a:rPr lang="en-US" altLang="zh-TW" dirty="0"/>
              <a:t>IT</a:t>
            </a:r>
            <a:r>
              <a:rPr lang="zh-TW" altLang="en-US" dirty="0"/>
              <a:t>運籌之外，需要另外使用</a:t>
            </a:r>
            <a:r>
              <a:rPr lang="en-US" altLang="zh-TW" dirty="0"/>
              <a:t>Yarn</a:t>
            </a:r>
            <a:r>
              <a:rPr lang="zh-TW" altLang="en-US" dirty="0"/>
              <a:t>進行管理，從</a:t>
            </a:r>
            <a:r>
              <a:rPr lang="en-US" altLang="zh-TW" dirty="0"/>
              <a:t>CTO/DevOps</a:t>
            </a:r>
            <a:r>
              <a:rPr lang="zh-TW" altLang="en-US" dirty="0"/>
              <a:t>角度來看這很不方便，可是</a:t>
            </a:r>
            <a:r>
              <a:rPr lang="en-US" altLang="zh-TW" dirty="0"/>
              <a:t>Apache Yarn</a:t>
            </a:r>
            <a:r>
              <a:rPr lang="zh-TW" altLang="en-US" dirty="0"/>
              <a:t>掌控整個</a:t>
            </a:r>
            <a:r>
              <a:rPr lang="en-US" altLang="zh-TW" dirty="0"/>
              <a:t>Hadoop</a:t>
            </a:r>
            <a:r>
              <a:rPr lang="zh-TW" altLang="en-US" dirty="0"/>
              <a:t>生態系已無法撼動，該怎麼辦呢</a:t>
            </a:r>
            <a:r>
              <a:rPr lang="en-US" altLang="zh-TW" dirty="0"/>
              <a:t>?</a:t>
            </a:r>
            <a:r>
              <a:rPr lang="zh-TW" altLang="en-US" dirty="0"/>
              <a:t>那先全力培植</a:t>
            </a:r>
            <a:r>
              <a:rPr lang="en-US" altLang="zh-TW" dirty="0"/>
              <a:t>K8s</a:t>
            </a:r>
            <a:r>
              <a:rPr lang="zh-TW" altLang="en-US" dirty="0"/>
              <a:t>並成立</a:t>
            </a:r>
            <a:r>
              <a:rPr lang="en-US" altLang="zh-TW" dirty="0"/>
              <a:t>CNCF</a:t>
            </a:r>
            <a:r>
              <a:rPr lang="zh-TW" altLang="en-US" dirty="0"/>
              <a:t>基金會推廣之，目的是打擊跟</a:t>
            </a:r>
            <a:r>
              <a:rPr lang="en-US" altLang="zh-TW" dirty="0"/>
              <a:t>Apache Yarn</a:t>
            </a:r>
            <a:r>
              <a:rPr lang="zh-TW" altLang="en-US" dirty="0"/>
              <a:t>廝殺多年，跟</a:t>
            </a:r>
            <a:r>
              <a:rPr lang="en-US" altLang="zh-TW" dirty="0"/>
              <a:t>K8s</a:t>
            </a:r>
            <a:r>
              <a:rPr lang="zh-TW" altLang="en-US" dirty="0"/>
              <a:t>有類似理念的</a:t>
            </a:r>
            <a:r>
              <a:rPr lang="en-US" altLang="zh-TW" dirty="0"/>
              <a:t>Apache Mesos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72689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招式二</a:t>
            </a:r>
            <a:r>
              <a:rPr lang="en-US" altLang="zh-TW" b="1" dirty="0"/>
              <a:t>:</a:t>
            </a:r>
            <a:r>
              <a:rPr lang="zh-TW" altLang="en-US" b="1" dirty="0"/>
              <a:t>從</a:t>
            </a:r>
            <a:r>
              <a:rPr lang="en-US" altLang="zh-TW" b="1" dirty="0"/>
              <a:t>AL</a:t>
            </a:r>
            <a:r>
              <a:rPr lang="zh-TW" altLang="en-US" b="1" dirty="0"/>
              <a:t>著手</a:t>
            </a:r>
            <a:endParaRPr lang="en-US" altLang="zh-TW" b="1" dirty="0"/>
          </a:p>
          <a:p>
            <a:pPr marL="0" indent="0">
              <a:buNone/>
            </a:pPr>
            <a:r>
              <a:rPr lang="zh-TW" altLang="en-US" dirty="0"/>
              <a:t>從</a:t>
            </a:r>
            <a:r>
              <a:rPr lang="en-US" altLang="zh-TW" dirty="0"/>
              <a:t>AL</a:t>
            </a:r>
            <a:r>
              <a:rPr lang="zh-TW" altLang="en-US" dirty="0"/>
              <a:t>著手</a:t>
            </a:r>
            <a:r>
              <a:rPr lang="en-US" altLang="zh-TW" dirty="0"/>
              <a:t>:</a:t>
            </a:r>
            <a:r>
              <a:rPr lang="zh-TW" altLang="en-US" dirty="0"/>
              <a:t> 開源</a:t>
            </a:r>
            <a:r>
              <a:rPr lang="en-US" altLang="zh-TW" dirty="0"/>
              <a:t>DL, ML </a:t>
            </a:r>
            <a:r>
              <a:rPr lang="zh-TW" altLang="en-US" dirty="0"/>
              <a:t>框架</a:t>
            </a:r>
            <a:r>
              <a:rPr lang="en-US" altLang="zh-TW" dirty="0"/>
              <a:t>TensorFlow</a:t>
            </a:r>
            <a:r>
              <a:rPr lang="zh-TW" altLang="en-US" dirty="0"/>
              <a:t>，侵蝕</a:t>
            </a:r>
            <a:r>
              <a:rPr lang="en-US" altLang="zh-TW" dirty="0"/>
              <a:t>Apache Spark</a:t>
            </a:r>
            <a:r>
              <a:rPr lang="zh-TW" altLang="en-US" dirty="0"/>
              <a:t>的</a:t>
            </a:r>
            <a:r>
              <a:rPr lang="en-US" altLang="zh-TW" dirty="0"/>
              <a:t>AI</a:t>
            </a:r>
            <a:r>
              <a:rPr lang="zh-TW" altLang="en-US" dirty="0"/>
              <a:t>業務，</a:t>
            </a:r>
            <a:endParaRPr lang="en-US" altLang="zh-TW" dirty="0"/>
          </a:p>
          <a:p>
            <a:r>
              <a:rPr lang="zh-TW" altLang="en-US" b="1" dirty="0"/>
              <a:t>招式三</a:t>
            </a:r>
            <a:r>
              <a:rPr lang="en-US" altLang="zh-TW" b="1" dirty="0"/>
              <a:t>:</a:t>
            </a:r>
            <a:r>
              <a:rPr lang="zh-TW" altLang="en-US" b="1" dirty="0"/>
              <a:t>從</a:t>
            </a:r>
            <a:r>
              <a:rPr lang="en-US" altLang="zh-TW" b="1" dirty="0"/>
              <a:t>Data Source</a:t>
            </a:r>
            <a:r>
              <a:rPr lang="zh-TW" altLang="en-US" b="1" dirty="0"/>
              <a:t>入手</a:t>
            </a:r>
            <a:endParaRPr lang="en-US" altLang="zh-TW" b="1" dirty="0"/>
          </a:p>
          <a:p>
            <a:pPr marL="0" indent="0">
              <a:buNone/>
            </a:pPr>
            <a:r>
              <a:rPr lang="zh-TW" altLang="en-US" dirty="0"/>
              <a:t>從</a:t>
            </a:r>
            <a:r>
              <a:rPr lang="en-US" altLang="zh-TW" dirty="0"/>
              <a:t>DB</a:t>
            </a:r>
            <a:r>
              <a:rPr lang="zh-TW" altLang="en-US" dirty="0"/>
              <a:t>與</a:t>
            </a:r>
            <a:r>
              <a:rPr lang="en-US" altLang="zh-TW" dirty="0"/>
              <a:t>MQ</a:t>
            </a:r>
            <a:r>
              <a:rPr lang="zh-TW" altLang="en-US" dirty="0"/>
              <a:t>著手，</a:t>
            </a:r>
            <a:r>
              <a:rPr lang="en-US" altLang="zh-TW" dirty="0"/>
              <a:t>Apache HDFS</a:t>
            </a:r>
            <a:r>
              <a:rPr lang="zh-TW" altLang="en-US" dirty="0"/>
              <a:t> 雖然堅不可摧，拉攏</a:t>
            </a:r>
            <a:r>
              <a:rPr lang="en-US" altLang="zh-TW" dirty="0"/>
              <a:t>MongoDB(Document)</a:t>
            </a:r>
            <a:r>
              <a:rPr lang="zh-TW" altLang="en-US" dirty="0"/>
              <a:t>，</a:t>
            </a:r>
            <a:r>
              <a:rPr lang="en-US" altLang="zh-TW" dirty="0"/>
              <a:t>Redis(Cache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Key Value)</a:t>
            </a:r>
            <a:r>
              <a:rPr lang="zh-TW" altLang="en-US" dirty="0"/>
              <a:t>，再配合</a:t>
            </a:r>
            <a:r>
              <a:rPr lang="en-US" altLang="zh-TW" dirty="0"/>
              <a:t>K8s support Huge Pages </a:t>
            </a:r>
            <a:r>
              <a:rPr lang="zh-TW" altLang="en-US" dirty="0"/>
              <a:t>拉攏</a:t>
            </a:r>
            <a:r>
              <a:rPr lang="en-US" altLang="zh-TW" dirty="0"/>
              <a:t>SQL DB</a:t>
            </a:r>
            <a:r>
              <a:rPr lang="zh-TW" altLang="en-US" dirty="0"/>
              <a:t>，還有拉攏擅長搜尋技術</a:t>
            </a:r>
            <a:r>
              <a:rPr lang="en-US" altLang="zh-TW" dirty="0"/>
              <a:t>Elasticsearch, </a:t>
            </a:r>
            <a:r>
              <a:rPr lang="zh-TW" altLang="en-US" dirty="0"/>
              <a:t>擅長圖像儲存</a:t>
            </a:r>
            <a:r>
              <a:rPr lang="en-US" altLang="zh-TW" dirty="0"/>
              <a:t>neo4j, </a:t>
            </a:r>
            <a:r>
              <a:rPr lang="zh-TW" altLang="en-US" dirty="0"/>
              <a:t>還有</a:t>
            </a:r>
            <a:r>
              <a:rPr lang="zh-TW" altLang="en-US" b="1" dirty="0">
                <a:solidFill>
                  <a:srgbClr val="FF0000"/>
                </a:solidFill>
              </a:rPr>
              <a:t>最近超紅的</a:t>
            </a:r>
            <a:r>
              <a:rPr lang="en-US" altLang="zh-TW" b="1" dirty="0">
                <a:solidFill>
                  <a:srgbClr val="FF0000"/>
                </a:solidFill>
              </a:rPr>
              <a:t>Apache Kafka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19441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招式二</a:t>
            </a:r>
            <a:r>
              <a:rPr lang="en-US" altLang="zh-TW" b="1" dirty="0"/>
              <a:t>:</a:t>
            </a:r>
            <a:r>
              <a:rPr lang="zh-TW" altLang="en-US" b="1" dirty="0"/>
              <a:t>從</a:t>
            </a:r>
            <a:r>
              <a:rPr lang="en-US" altLang="zh-TW" b="1" dirty="0"/>
              <a:t>AL</a:t>
            </a:r>
            <a:r>
              <a:rPr lang="zh-TW" altLang="en-US" b="1" dirty="0"/>
              <a:t>著手</a:t>
            </a:r>
            <a:endParaRPr lang="en-US" altLang="zh-TW" b="1" dirty="0"/>
          </a:p>
          <a:p>
            <a:pPr marL="0" indent="0">
              <a:buNone/>
            </a:pPr>
            <a:r>
              <a:rPr lang="zh-TW" altLang="en-US" dirty="0"/>
              <a:t>從</a:t>
            </a:r>
            <a:r>
              <a:rPr lang="en-US" altLang="zh-TW" dirty="0"/>
              <a:t>AL</a:t>
            </a:r>
            <a:r>
              <a:rPr lang="zh-TW" altLang="en-US" dirty="0"/>
              <a:t>著手</a:t>
            </a:r>
            <a:r>
              <a:rPr lang="en-US" altLang="zh-TW" dirty="0"/>
              <a:t>:</a:t>
            </a:r>
            <a:r>
              <a:rPr lang="zh-TW" altLang="en-US" dirty="0"/>
              <a:t> 開源</a:t>
            </a:r>
            <a:r>
              <a:rPr lang="en-US" altLang="zh-TW" dirty="0"/>
              <a:t>DL, ML </a:t>
            </a:r>
            <a:r>
              <a:rPr lang="zh-TW" altLang="en-US" dirty="0"/>
              <a:t>框架</a:t>
            </a:r>
            <a:r>
              <a:rPr lang="en-US" altLang="zh-TW" dirty="0"/>
              <a:t>TensorFlow</a:t>
            </a:r>
            <a:r>
              <a:rPr lang="zh-TW" altLang="en-US" dirty="0"/>
              <a:t>，侵蝕</a:t>
            </a:r>
            <a:r>
              <a:rPr lang="en-US" altLang="zh-TW" dirty="0"/>
              <a:t>Apache Spark</a:t>
            </a:r>
            <a:r>
              <a:rPr lang="zh-TW" altLang="en-US" dirty="0"/>
              <a:t>的</a:t>
            </a:r>
            <a:r>
              <a:rPr lang="en-US" altLang="zh-TW" dirty="0"/>
              <a:t>AI</a:t>
            </a:r>
            <a:r>
              <a:rPr lang="zh-TW" altLang="en-US" dirty="0"/>
              <a:t>業務，</a:t>
            </a:r>
            <a:endParaRPr lang="en-US" altLang="zh-TW" dirty="0"/>
          </a:p>
          <a:p>
            <a:r>
              <a:rPr lang="zh-TW" altLang="en-US" b="1" dirty="0"/>
              <a:t>招式三</a:t>
            </a:r>
            <a:r>
              <a:rPr lang="en-US" altLang="zh-TW" b="1" dirty="0"/>
              <a:t>:</a:t>
            </a:r>
            <a:r>
              <a:rPr lang="zh-TW" altLang="en-US" b="1" dirty="0"/>
              <a:t>從</a:t>
            </a:r>
            <a:r>
              <a:rPr lang="en-US" altLang="zh-TW" b="1" dirty="0"/>
              <a:t>Data Source</a:t>
            </a:r>
            <a:r>
              <a:rPr lang="zh-TW" altLang="en-US" b="1" dirty="0"/>
              <a:t>入手</a:t>
            </a:r>
            <a:endParaRPr lang="en-US" altLang="zh-TW" b="1" dirty="0"/>
          </a:p>
          <a:p>
            <a:pPr marL="0" indent="0">
              <a:buNone/>
            </a:pPr>
            <a:r>
              <a:rPr lang="zh-TW" altLang="en-US" dirty="0"/>
              <a:t>從</a:t>
            </a:r>
            <a:r>
              <a:rPr lang="en-US" altLang="zh-TW" dirty="0"/>
              <a:t>DB</a:t>
            </a:r>
            <a:r>
              <a:rPr lang="zh-TW" altLang="en-US" dirty="0"/>
              <a:t>與</a:t>
            </a:r>
            <a:r>
              <a:rPr lang="en-US" altLang="zh-TW" dirty="0"/>
              <a:t>MQ</a:t>
            </a:r>
            <a:r>
              <a:rPr lang="zh-TW" altLang="en-US" dirty="0"/>
              <a:t>著手，</a:t>
            </a:r>
            <a:r>
              <a:rPr lang="en-US" altLang="zh-TW" dirty="0"/>
              <a:t>Apache HDFS</a:t>
            </a:r>
            <a:r>
              <a:rPr lang="zh-TW" altLang="en-US" dirty="0"/>
              <a:t> 與</a:t>
            </a:r>
            <a:r>
              <a:rPr lang="en-US" altLang="zh-TW" dirty="0"/>
              <a:t>Apache HBase</a:t>
            </a:r>
            <a:r>
              <a:rPr lang="zh-TW" altLang="en-US" dirty="0"/>
              <a:t>雖然堅不可摧，但可以鄉村包圍城市拉攏</a:t>
            </a:r>
            <a:r>
              <a:rPr lang="en-US" altLang="zh-TW" dirty="0"/>
              <a:t>MongoDB(Document)</a:t>
            </a:r>
            <a:r>
              <a:rPr lang="zh-TW" altLang="en-US" dirty="0"/>
              <a:t>，</a:t>
            </a:r>
            <a:r>
              <a:rPr lang="en-US" altLang="zh-TW" dirty="0"/>
              <a:t>Redis(Cache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Key Value)</a:t>
            </a:r>
            <a:r>
              <a:rPr lang="zh-TW" altLang="en-US" dirty="0"/>
              <a:t>，還有拉攏擅長搜尋技術</a:t>
            </a:r>
            <a:r>
              <a:rPr lang="en-US" altLang="zh-TW" dirty="0"/>
              <a:t>Elasticsearch,, </a:t>
            </a:r>
            <a:r>
              <a:rPr lang="zh-TW" altLang="en-US" dirty="0"/>
              <a:t>還有</a:t>
            </a:r>
            <a:r>
              <a:rPr lang="zh-TW" altLang="en-US" dirty="0">
                <a:solidFill>
                  <a:srgbClr val="FF0000"/>
                </a:solidFill>
              </a:rPr>
              <a:t>最近超紅的</a:t>
            </a:r>
            <a:r>
              <a:rPr lang="en-US" altLang="zh-TW" dirty="0">
                <a:solidFill>
                  <a:srgbClr val="FF0000"/>
                </a:solidFill>
              </a:rPr>
              <a:t>Apache Kafka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401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Google</a:t>
            </a:r>
            <a:r>
              <a:rPr lang="zh-TW" altLang="en-US" dirty="0"/>
              <a:t>表示有了</a:t>
            </a:r>
            <a:r>
              <a:rPr lang="en-US" altLang="zh-TW" dirty="0"/>
              <a:t>TensorFlow</a:t>
            </a:r>
            <a:r>
              <a:rPr lang="zh-TW" altLang="en-US" dirty="0"/>
              <a:t> </a:t>
            </a:r>
            <a:r>
              <a:rPr lang="en-US" altLang="zh-TW" dirty="0"/>
              <a:t>K8s Open Source</a:t>
            </a:r>
            <a:r>
              <a:rPr lang="zh-TW" altLang="en-US" dirty="0"/>
              <a:t> </a:t>
            </a:r>
            <a:r>
              <a:rPr lang="en-US" altLang="zh-TW" dirty="0"/>
              <a:t>paneer</a:t>
            </a:r>
            <a:r>
              <a:rPr lang="zh-TW" altLang="en-US" dirty="0"/>
              <a:t>這三支箭</a:t>
            </a:r>
            <a:r>
              <a:rPr lang="en-US" altLang="zh-TW" dirty="0"/>
              <a:t> </a:t>
            </a:r>
            <a:r>
              <a:rPr lang="zh-TW" altLang="en-US" dirty="0"/>
              <a:t>，這次我一定會打敗</a:t>
            </a:r>
            <a:r>
              <a:rPr lang="en-US" altLang="zh-TW" dirty="0"/>
              <a:t>Hadoop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60294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講完小故事我們再回來獎容器網路介面，對於分散式運算來說網路是非常影響效能的關鍵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7505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我們從最原始的</a:t>
            </a:r>
            <a:r>
              <a:rPr lang="en-US" altLang="zh-TW" dirty="0"/>
              <a:t>Docker Network</a:t>
            </a:r>
            <a:r>
              <a:rPr lang="zh-TW" altLang="en-US" dirty="0"/>
              <a:t>講起，如果是單</a:t>
            </a:r>
            <a:r>
              <a:rPr lang="en-US" altLang="zh-TW" dirty="0"/>
              <a:t>node</a:t>
            </a:r>
            <a:r>
              <a:rPr lang="zh-TW" altLang="en-US" dirty="0"/>
              <a:t>的話就用</a:t>
            </a:r>
            <a:r>
              <a:rPr lang="en-US" altLang="zh-TW" sz="1200" dirty="0"/>
              <a:t>Docker0</a:t>
            </a:r>
            <a:r>
              <a:rPr lang="zh-TW" altLang="en-US" sz="1200" dirty="0"/>
              <a:t> </a:t>
            </a:r>
            <a:r>
              <a:rPr lang="en-US" altLang="zh-TW" sz="1200" dirty="0"/>
              <a:t>Bridge</a:t>
            </a:r>
            <a:r>
              <a:rPr lang="zh-TW" altLang="en-US" sz="1200" dirty="0"/>
              <a:t> 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192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但是</a:t>
            </a:r>
            <a:r>
              <a:rPr lang="en-US" altLang="zh-TW" dirty="0"/>
              <a:t>Spark</a:t>
            </a:r>
            <a:r>
              <a:rPr lang="zh-TW" altLang="en-US" dirty="0"/>
              <a:t>是分散式系統不可能在只在一台機器上，可能在很多台機器，假如我們現在有兩台機器，上面有三個</a:t>
            </a:r>
            <a:r>
              <a:rPr lang="en-US" altLang="zh-TW" dirty="0"/>
              <a:t>Spark Exec</a:t>
            </a:r>
            <a:r>
              <a:rPr lang="en-US" altLang="zh-TW" sz="1200" dirty="0"/>
              <a:t>u</a:t>
            </a:r>
            <a:r>
              <a:rPr lang="en-US" altLang="zh-TW" dirty="0"/>
              <a:t>tor</a:t>
            </a:r>
            <a:r>
              <a:rPr lang="zh-TW" altLang="en-US" dirty="0"/>
              <a:t>，</a:t>
            </a:r>
            <a:r>
              <a:rPr lang="en-US" altLang="zh-TW" sz="1200" dirty="0"/>
              <a:t>SparkExecutor1</a:t>
            </a:r>
            <a:r>
              <a:rPr lang="zh-TW" altLang="en-US" sz="1200" dirty="0"/>
              <a:t>要訪問</a:t>
            </a:r>
            <a:r>
              <a:rPr lang="en-US" altLang="zh-TW" sz="1200" dirty="0"/>
              <a:t>SparkExecutor2</a:t>
            </a:r>
            <a:r>
              <a:rPr lang="zh-TW" altLang="en-US" sz="1200" dirty="0"/>
              <a:t>很簡單他們都在同一個虛擬網路裡面只要通過</a:t>
            </a:r>
            <a:r>
              <a:rPr lang="en-US" altLang="zh-TW" sz="1200" dirty="0"/>
              <a:t>Docker</a:t>
            </a:r>
            <a:r>
              <a:rPr lang="zh-TW" altLang="en-US" sz="1200" dirty="0"/>
              <a:t>網橋就可以互相訪問，但是</a:t>
            </a:r>
            <a:r>
              <a:rPr lang="en-US" altLang="zh-TW" sz="1200" dirty="0"/>
              <a:t>SparkExecutor1</a:t>
            </a:r>
            <a:r>
              <a:rPr lang="zh-TW" altLang="en-US" sz="1200" dirty="0"/>
              <a:t>與要訪問</a:t>
            </a:r>
            <a:r>
              <a:rPr lang="en-US" altLang="zh-TW" sz="1200" dirty="0"/>
              <a:t>SparkExecutor3</a:t>
            </a:r>
            <a:r>
              <a:rPr lang="zh-TW" altLang="en-US" sz="1200" dirty="0"/>
              <a:t>要怎麼做</a:t>
            </a:r>
            <a:r>
              <a:rPr lang="en-US" altLang="zh-TW" sz="1200" dirty="0"/>
              <a:t>?</a:t>
            </a:r>
            <a:r>
              <a:rPr lang="zh-TW" altLang="en-US" sz="1200" dirty="0"/>
              <a:t>，基本上他們不屬於同一個虛擬網路無法互相訪問，必須靠</a:t>
            </a:r>
            <a:r>
              <a:rPr lang="en-US" altLang="zh-TW" sz="1200" dirty="0"/>
              <a:t>NAT</a:t>
            </a:r>
            <a:r>
              <a:rPr lang="zh-TW" altLang="en-US" sz="1200" dirty="0"/>
              <a:t>協定</a:t>
            </a:r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1200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60119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我們來看一下</a:t>
            </a:r>
            <a:r>
              <a:rPr lang="en-US" altLang="zh-TW" dirty="0"/>
              <a:t>NAT</a:t>
            </a:r>
            <a:r>
              <a:rPr lang="zh-TW" altLang="en-US" dirty="0"/>
              <a:t>封包傳送過程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2641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剛剛的流程大家可以看到只是要將一個封包從</a:t>
            </a:r>
            <a:r>
              <a:rPr lang="en-US" altLang="zh-TW" dirty="0"/>
              <a:t>SparkExecutor1</a:t>
            </a:r>
            <a:r>
              <a:rPr lang="zh-TW" altLang="en-US" dirty="0"/>
              <a:t>傳到</a:t>
            </a:r>
            <a:r>
              <a:rPr lang="en-US" altLang="zh-TW" dirty="0"/>
              <a:t>SparkExecutor3</a:t>
            </a:r>
            <a:r>
              <a:rPr lang="zh-TW" altLang="en-US" dirty="0"/>
              <a:t>，得修改</a:t>
            </a:r>
            <a:r>
              <a:rPr lang="en-US" altLang="zh-TW" dirty="0"/>
              <a:t>2</a:t>
            </a:r>
            <a:r>
              <a:rPr lang="zh-TW" altLang="en-US" dirty="0"/>
              <a:t>次封包的</a:t>
            </a:r>
            <a:r>
              <a:rPr lang="en-US" altLang="zh-TW" dirty="0"/>
              <a:t>Source</a:t>
            </a:r>
            <a:r>
              <a:rPr lang="zh-TW" altLang="en-US" dirty="0"/>
              <a:t>與</a:t>
            </a:r>
            <a:r>
              <a:rPr lang="en-US" altLang="zh-TW" dirty="0" err="1"/>
              <a:t>Destionation</a:t>
            </a:r>
            <a:r>
              <a:rPr lang="zh-TW" altLang="en-US" dirty="0"/>
              <a:t>，看起來好像不困難，問題</a:t>
            </a:r>
            <a:r>
              <a:rPr lang="en-US" altLang="zh-TW" dirty="0"/>
              <a:t>TCP/IP</a:t>
            </a:r>
            <a:r>
              <a:rPr lang="zh-TW" altLang="en-US" dirty="0"/>
              <a:t>協定是在</a:t>
            </a:r>
            <a:r>
              <a:rPr lang="en-US" altLang="zh-TW" dirty="0"/>
              <a:t>OSI</a:t>
            </a:r>
            <a:r>
              <a:rPr lang="zh-TW" altLang="en-US" dirty="0"/>
              <a:t>第</a:t>
            </a:r>
            <a:r>
              <a:rPr lang="en-US" altLang="zh-TW" dirty="0"/>
              <a:t>3</a:t>
            </a:r>
            <a:r>
              <a:rPr lang="zh-TW" altLang="en-US" dirty="0"/>
              <a:t>層，</a:t>
            </a:r>
            <a:r>
              <a:rPr lang="zh-TW" altLang="en-US" dirty="0">
                <a:solidFill>
                  <a:srgbClr val="FF0000"/>
                </a:solidFill>
              </a:rPr>
              <a:t>要修改</a:t>
            </a:r>
            <a:r>
              <a:rPr lang="en-US" altLang="zh-TW" dirty="0">
                <a:solidFill>
                  <a:srgbClr val="FF0000"/>
                </a:solidFill>
              </a:rPr>
              <a:t>IP</a:t>
            </a:r>
            <a:r>
              <a:rPr lang="zh-TW" altLang="en-US" dirty="0">
                <a:solidFill>
                  <a:srgbClr val="FF0000"/>
                </a:solidFill>
              </a:rPr>
              <a:t>得先解開</a:t>
            </a:r>
            <a:r>
              <a:rPr lang="en-US" altLang="zh-TW" dirty="0">
                <a:solidFill>
                  <a:srgbClr val="FF0000"/>
                </a:solidFill>
              </a:rPr>
              <a:t>Layer1</a:t>
            </a:r>
            <a:r>
              <a:rPr lang="zh-TW" altLang="en-US" dirty="0">
                <a:solidFill>
                  <a:srgbClr val="FF0000"/>
                </a:solidFill>
              </a:rPr>
              <a:t>標頭，再解開</a:t>
            </a:r>
            <a:r>
              <a:rPr lang="en-US" altLang="zh-TW" dirty="0">
                <a:solidFill>
                  <a:srgbClr val="FF0000"/>
                </a:solidFill>
              </a:rPr>
              <a:t>Layer2</a:t>
            </a:r>
            <a:r>
              <a:rPr lang="zh-TW" altLang="en-US" dirty="0">
                <a:solidFill>
                  <a:srgbClr val="FF0000"/>
                </a:solidFill>
              </a:rPr>
              <a:t>標頭，修改完，再封裝</a:t>
            </a:r>
            <a:r>
              <a:rPr lang="en-US" altLang="zh-TW" dirty="0">
                <a:solidFill>
                  <a:srgbClr val="FF0000"/>
                </a:solidFill>
              </a:rPr>
              <a:t>Layer2</a:t>
            </a:r>
            <a:r>
              <a:rPr lang="zh-TW" altLang="en-US" dirty="0">
                <a:solidFill>
                  <a:srgbClr val="FF0000"/>
                </a:solidFill>
              </a:rPr>
              <a:t>再封裝</a:t>
            </a:r>
            <a:r>
              <a:rPr lang="en-US" altLang="zh-TW" dirty="0">
                <a:solidFill>
                  <a:srgbClr val="FF0000"/>
                </a:solidFill>
              </a:rPr>
              <a:t>Layer1</a:t>
            </a:r>
            <a:r>
              <a:rPr lang="zh-TW" altLang="en-US" dirty="0"/>
              <a:t>，如果每個跨虛擬網路的封包都得這樣做，有幾百個</a:t>
            </a:r>
            <a:r>
              <a:rPr lang="en-US" altLang="zh-TW" dirty="0"/>
              <a:t>nod</a:t>
            </a:r>
            <a:r>
              <a:rPr lang="zh-TW" altLang="en-US" dirty="0"/>
              <a:t>節點節與上千個</a:t>
            </a:r>
            <a:r>
              <a:rPr lang="en-US" altLang="zh-TW" dirty="0"/>
              <a:t>Spark </a:t>
            </a:r>
            <a:r>
              <a:rPr lang="zh-TW" altLang="en-US" dirty="0"/>
              <a:t>程序</a:t>
            </a:r>
            <a:r>
              <a:rPr lang="en-US" altLang="zh-TW" dirty="0"/>
              <a:t> </a:t>
            </a:r>
            <a:r>
              <a:rPr lang="zh-TW" altLang="en-US" dirty="0"/>
              <a:t>，光網路封包很快就可以搞掛機器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94344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dirty="0"/>
          </a:p>
          <a:p>
            <a:r>
              <a:rPr lang="zh-TW" altLang="en-US" sz="1200" dirty="0"/>
              <a:t>原本</a:t>
            </a:r>
            <a:r>
              <a:rPr lang="en-US" altLang="zh-TW" sz="1200" dirty="0"/>
              <a:t>Docker</a:t>
            </a:r>
            <a:r>
              <a:rPr lang="zh-TW" altLang="en-US" sz="1200" dirty="0"/>
              <a:t>網段是</a:t>
            </a:r>
            <a:r>
              <a:rPr lang="en-US" altLang="zh-TW" sz="1200" dirty="0"/>
              <a:t>172.17.0.0/16</a:t>
            </a:r>
            <a:r>
              <a:rPr lang="zh-TW" altLang="en-US" sz="1200" dirty="0"/>
              <a:t>這個網段太大了，可以放下</a:t>
            </a:r>
            <a:r>
              <a:rPr lang="en-US" altLang="zh-TW" sz="1200" dirty="0"/>
              <a:t>2</a:t>
            </a:r>
            <a:r>
              <a:rPr lang="zh-TW" altLang="en-US" sz="1200" dirty="0"/>
              <a:t>的</a:t>
            </a:r>
            <a:r>
              <a:rPr lang="en-US" altLang="zh-TW" sz="1200" dirty="0"/>
              <a:t>16</a:t>
            </a:r>
            <a:r>
              <a:rPr lang="zh-TW" altLang="en-US" sz="1200" dirty="0"/>
              <a:t>次方個應用，根本沒有</a:t>
            </a:r>
            <a:r>
              <a:rPr lang="en-US" altLang="zh-TW" sz="1200" dirty="0"/>
              <a:t>node</a:t>
            </a:r>
            <a:r>
              <a:rPr lang="zh-TW" altLang="en-US" sz="1200" dirty="0"/>
              <a:t>可以擺下那麼多應用</a:t>
            </a:r>
            <a:endParaRPr lang="en-US" altLang="zh-TW" sz="1200" dirty="0"/>
          </a:p>
          <a:p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Flannel</a:t>
            </a:r>
            <a:r>
              <a:rPr lang="zh-TW" altLang="en-US" dirty="0"/>
              <a:t>將原本</a:t>
            </a:r>
            <a:r>
              <a:rPr lang="en-US" altLang="zh-TW" dirty="0"/>
              <a:t>/16</a:t>
            </a:r>
            <a:r>
              <a:rPr lang="zh-TW" altLang="en-US" dirty="0"/>
              <a:t>的網段映射成數個不衝突</a:t>
            </a:r>
            <a:r>
              <a:rPr lang="en-US" altLang="zh-TW" dirty="0"/>
              <a:t>/24</a:t>
            </a:r>
            <a:r>
              <a:rPr lang="zh-TW" altLang="en-US" dirty="0"/>
              <a:t>的網段再分配給每個節點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5254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dirty="0"/>
          </a:p>
          <a:p>
            <a:r>
              <a:rPr lang="zh-TW" altLang="en-US" sz="1200" dirty="0"/>
              <a:t>原本</a:t>
            </a:r>
            <a:r>
              <a:rPr lang="en-US" altLang="zh-TW" sz="1200" dirty="0"/>
              <a:t>Docker</a:t>
            </a:r>
            <a:r>
              <a:rPr lang="zh-TW" altLang="en-US" sz="1200" dirty="0"/>
              <a:t>網段是</a:t>
            </a:r>
            <a:r>
              <a:rPr lang="en-US" altLang="zh-TW" sz="1200" dirty="0"/>
              <a:t>172.17.0.0/16</a:t>
            </a:r>
            <a:r>
              <a:rPr lang="zh-TW" altLang="en-US" sz="1200" dirty="0"/>
              <a:t>這個網段太大了，可以放下</a:t>
            </a:r>
            <a:r>
              <a:rPr lang="en-US" altLang="zh-TW" sz="1200" dirty="0"/>
              <a:t>2</a:t>
            </a:r>
            <a:r>
              <a:rPr lang="zh-TW" altLang="en-US" sz="1200" dirty="0"/>
              <a:t>的</a:t>
            </a:r>
            <a:r>
              <a:rPr lang="en-US" altLang="zh-TW" sz="1200" dirty="0"/>
              <a:t>16</a:t>
            </a:r>
            <a:r>
              <a:rPr lang="zh-TW" altLang="en-US" sz="1200" dirty="0"/>
              <a:t>次方個應用，根本沒有</a:t>
            </a:r>
            <a:r>
              <a:rPr lang="en-US" altLang="zh-TW" sz="1200" dirty="0"/>
              <a:t>node</a:t>
            </a:r>
            <a:r>
              <a:rPr lang="zh-TW" altLang="en-US" sz="1200" dirty="0"/>
              <a:t>可以擺下那麼多應用</a:t>
            </a:r>
            <a:endParaRPr lang="en-US" altLang="zh-TW" sz="1200" dirty="0"/>
          </a:p>
          <a:p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Flannel</a:t>
            </a:r>
            <a:r>
              <a:rPr lang="zh-TW" altLang="en-US" dirty="0"/>
              <a:t>將原本</a:t>
            </a:r>
            <a:r>
              <a:rPr lang="en-US" altLang="zh-TW" dirty="0"/>
              <a:t>/16</a:t>
            </a:r>
            <a:r>
              <a:rPr lang="zh-TW" altLang="en-US" dirty="0"/>
              <a:t>的網段映射成數個不衝突</a:t>
            </a:r>
            <a:r>
              <a:rPr lang="en-US" altLang="zh-TW" dirty="0"/>
              <a:t>/24</a:t>
            </a:r>
            <a:r>
              <a:rPr lang="zh-TW" altLang="en-US" dirty="0"/>
              <a:t>的網段再分配給每個節點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72032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dirty="0"/>
          </a:p>
          <a:p>
            <a:r>
              <a:rPr lang="zh-TW" altLang="en-US" sz="1200" dirty="0"/>
              <a:t>原本</a:t>
            </a:r>
            <a:r>
              <a:rPr lang="en-US" altLang="zh-TW" sz="1200" dirty="0"/>
              <a:t>Docker</a:t>
            </a:r>
            <a:r>
              <a:rPr lang="zh-TW" altLang="en-US" sz="1200" dirty="0"/>
              <a:t>網段是</a:t>
            </a:r>
            <a:r>
              <a:rPr lang="en-US" altLang="zh-TW" sz="1200" dirty="0"/>
              <a:t>172.17.0.0/16</a:t>
            </a:r>
            <a:r>
              <a:rPr lang="zh-TW" altLang="en-US" sz="1200" dirty="0"/>
              <a:t>這個網段太大了，可以放下</a:t>
            </a:r>
            <a:r>
              <a:rPr lang="en-US" altLang="zh-TW" sz="1200" dirty="0"/>
              <a:t>2</a:t>
            </a:r>
            <a:r>
              <a:rPr lang="zh-TW" altLang="en-US" sz="1200" dirty="0"/>
              <a:t>的</a:t>
            </a:r>
            <a:r>
              <a:rPr lang="en-US" altLang="zh-TW" sz="1200" dirty="0"/>
              <a:t>16</a:t>
            </a:r>
            <a:r>
              <a:rPr lang="zh-TW" altLang="en-US" sz="1200" dirty="0"/>
              <a:t>次方個應用，根本沒有</a:t>
            </a:r>
            <a:r>
              <a:rPr lang="en-US" altLang="zh-TW" sz="1200" dirty="0"/>
              <a:t>node</a:t>
            </a:r>
            <a:r>
              <a:rPr lang="zh-TW" altLang="en-US" sz="1200" dirty="0"/>
              <a:t>可以擺下那麼多應用</a:t>
            </a:r>
            <a:endParaRPr lang="en-US" altLang="zh-TW" sz="1200" dirty="0"/>
          </a:p>
          <a:p>
            <a:endParaRPr lang="en-US" altLang="zh-TW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Flannel</a:t>
            </a:r>
            <a:r>
              <a:rPr lang="zh-TW" altLang="en-US" dirty="0"/>
              <a:t>將原本</a:t>
            </a:r>
            <a:r>
              <a:rPr lang="en-US" altLang="zh-TW" dirty="0"/>
              <a:t>/16</a:t>
            </a:r>
            <a:r>
              <a:rPr lang="zh-TW" altLang="en-US" dirty="0"/>
              <a:t>的網段映射成數個不衝突</a:t>
            </a:r>
            <a:r>
              <a:rPr lang="en-US" altLang="zh-TW" dirty="0"/>
              <a:t>/24</a:t>
            </a:r>
            <a:r>
              <a:rPr lang="zh-TW" altLang="en-US" dirty="0"/>
              <a:t>的網段再分配給每個節點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35403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物理機會運行一個叫做</a:t>
            </a:r>
            <a:r>
              <a:rPr lang="en-US" altLang="zh-TW" dirty="0" err="1"/>
              <a:t>flanneld</a:t>
            </a:r>
            <a:r>
              <a:rPr lang="zh-TW" altLang="en-US" dirty="0"/>
              <a:t>的</a:t>
            </a:r>
            <a:r>
              <a:rPr lang="en-US" altLang="zh-TW" dirty="0"/>
              <a:t>agent</a:t>
            </a:r>
            <a:r>
              <a:rPr lang="zh-TW" altLang="en-US" dirty="0"/>
              <a:t>代理程式收集所有封包，並在用</a:t>
            </a:r>
            <a:r>
              <a:rPr lang="en-US" altLang="zh-TW" dirty="0"/>
              <a:t>UDP</a:t>
            </a:r>
            <a:r>
              <a:rPr lang="zh-TW" altLang="en-US" dirty="0"/>
              <a:t>或</a:t>
            </a:r>
            <a:r>
              <a:rPr lang="en-US" altLang="zh-TW" dirty="0"/>
              <a:t>VXLAN+</a:t>
            </a:r>
            <a:r>
              <a:rPr lang="zh-TW" altLang="en-US" dirty="0"/>
              <a:t> </a:t>
            </a:r>
            <a:r>
              <a:rPr lang="en-US" altLang="zh-TW" dirty="0" err="1"/>
              <a:t>TunneL</a:t>
            </a:r>
            <a:r>
              <a:rPr lang="zh-TW" altLang="en-US" dirty="0"/>
              <a:t>方式將封包發送到另一台主機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18944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87522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很多人吐槽</a:t>
            </a:r>
            <a:r>
              <a:rPr lang="en-US" altLang="zh-TW" dirty="0"/>
              <a:t>Yarn</a:t>
            </a:r>
            <a:r>
              <a:rPr lang="zh-TW" altLang="en-US" dirty="0"/>
              <a:t>的</a:t>
            </a:r>
            <a:r>
              <a:rPr lang="en-US" altLang="zh-TW" dirty="0"/>
              <a:t>GPU</a:t>
            </a:r>
            <a:r>
              <a:rPr lang="zh-TW" altLang="en-US" dirty="0"/>
              <a:t>支持不好，不過</a:t>
            </a:r>
            <a:r>
              <a:rPr lang="en-US" altLang="zh-TW" dirty="0"/>
              <a:t>K8s</a:t>
            </a:r>
            <a:r>
              <a:rPr lang="zh-TW" altLang="en-US" dirty="0"/>
              <a:t>也沒很好用，這跟</a:t>
            </a:r>
            <a:r>
              <a:rPr lang="en-US" altLang="zh-TW" dirty="0"/>
              <a:t>Google </a:t>
            </a:r>
            <a:r>
              <a:rPr lang="zh-TW" altLang="en-US" dirty="0"/>
              <a:t>公司策略有關，畢竟</a:t>
            </a:r>
            <a:r>
              <a:rPr lang="en-US" altLang="zh-TW" dirty="0"/>
              <a:t>Google</a:t>
            </a:r>
            <a:r>
              <a:rPr lang="zh-TW" altLang="en-US" dirty="0"/>
              <a:t>想賣</a:t>
            </a:r>
            <a:r>
              <a:rPr lang="en-US" altLang="zh-TW" dirty="0"/>
              <a:t> TPU V3 POD</a:t>
            </a:r>
          </a:p>
          <a:p>
            <a:r>
              <a:rPr lang="zh-TW" altLang="en-US" dirty="0"/>
              <a:t>細粒度操作或是顯卡混插只能靠廠商自己</a:t>
            </a:r>
            <a:r>
              <a:rPr lang="en-US" altLang="zh-TW" dirty="0"/>
              <a:t>Git Fork</a:t>
            </a:r>
            <a:r>
              <a:rPr lang="zh-TW" altLang="en-US" dirty="0"/>
              <a:t> 做支援，所以</a:t>
            </a:r>
            <a:r>
              <a:rPr lang="en-US" altLang="zh-TW" dirty="0"/>
              <a:t>IBM</a:t>
            </a:r>
            <a:r>
              <a:rPr lang="zh-TW" altLang="en-US" dirty="0"/>
              <a:t>才花大錢吃</a:t>
            </a:r>
            <a:r>
              <a:rPr lang="en-US" altLang="zh-TW" dirty="0"/>
              <a:t>RedHat</a:t>
            </a:r>
            <a:r>
              <a:rPr lang="zh-TW" altLang="en-US" dirty="0"/>
              <a:t>來強化它的</a:t>
            </a:r>
            <a:r>
              <a:rPr lang="en-US" altLang="zh-TW" dirty="0"/>
              <a:t>GPU</a:t>
            </a:r>
            <a:r>
              <a:rPr lang="zh-TW" altLang="en-US" dirty="0"/>
              <a:t> </a:t>
            </a:r>
            <a:r>
              <a:rPr lang="en-US" altLang="zh-TW" dirty="0"/>
              <a:t>Server</a:t>
            </a:r>
            <a:r>
              <a:rPr lang="zh-TW" altLang="en-US" dirty="0"/>
              <a:t>服務</a:t>
            </a:r>
            <a:endParaRPr lang="en-US" altLang="zh-TW" dirty="0"/>
          </a:p>
          <a:p>
            <a:r>
              <a:rPr lang="zh-TW" altLang="en-US" dirty="0"/>
              <a:t>靠</a:t>
            </a:r>
            <a:r>
              <a:rPr lang="en-US" altLang="zh-TW" dirty="0"/>
              <a:t>Device Plugin</a:t>
            </a:r>
            <a:r>
              <a:rPr lang="zh-TW" altLang="en-US" dirty="0"/>
              <a:t> 的</a:t>
            </a:r>
            <a:r>
              <a:rPr lang="en-US" altLang="zh-TW" dirty="0"/>
              <a:t>Extended Resources</a:t>
            </a:r>
            <a:r>
              <a:rPr lang="zh-TW" altLang="en-US" dirty="0"/>
              <a:t>字段配置</a:t>
            </a:r>
            <a:r>
              <a:rPr lang="en-US" altLang="zh-TW" dirty="0"/>
              <a:t>/</a:t>
            </a:r>
            <a:r>
              <a:rPr lang="zh-TW" altLang="en-US" dirty="0"/>
              <a:t>要求</a:t>
            </a:r>
            <a:r>
              <a:rPr lang="en-US" altLang="zh-TW" dirty="0"/>
              <a:t>GPU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90329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這段涉及我司核心系統，只能給三個方向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5259FE-8CAD-4E34-92DD-4E867D528598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5407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40A4-5352-44F5-AD00-7859BB869735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53F010E-A2FC-4195-A691-3773FAC146A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781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40A4-5352-44F5-AD00-7859BB869735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10E-A2FC-4195-A691-3773FAC146A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00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40A4-5352-44F5-AD00-7859BB869735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10E-A2FC-4195-A691-3773FAC146A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07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40A4-5352-44F5-AD00-7859BB869735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10E-A2FC-4195-A691-3773FAC146A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997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40A4-5352-44F5-AD00-7859BB869735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10E-A2FC-4195-A691-3773FAC146A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21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40A4-5352-44F5-AD00-7859BB869735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10E-A2FC-4195-A691-3773FAC146A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95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40A4-5352-44F5-AD00-7859BB869735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10E-A2FC-4195-A691-3773FAC146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390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40A4-5352-44F5-AD00-7859BB869735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10E-A2FC-4195-A691-3773FAC146A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123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E9C40A4-5352-44F5-AD00-7859BB869735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10E-A2FC-4195-A691-3773FAC146A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023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40A4-5352-44F5-AD00-7859BB869735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10E-A2FC-4195-A691-3773FAC146A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054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C40A4-5352-44F5-AD00-7859BB869735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010E-A2FC-4195-A691-3773FAC146A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49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C40A4-5352-44F5-AD00-7859BB869735}" type="datetimeFigureOut">
              <a:rPr lang="zh-TW" altLang="en-US" smtClean="0"/>
              <a:t>2026/6/22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53F010E-A2FC-4195-A691-3773FAC146A7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682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late.google.com.tw/translate?hl=zh-TW&amp;sl=en&amp;u=https://beam.apache.org/documentation/runners/spark/&amp;prev=search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kdone/gke-mongodb-demo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tefanprodan/mgob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kknews.cc/other/qgxp54b.html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1112F2-9B1A-451C-A7A2-402CD9BC9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8970" y="759361"/>
            <a:ext cx="9774692" cy="2541431"/>
          </a:xfrm>
        </p:spPr>
        <p:txBody>
          <a:bodyPr>
            <a:normAutofit/>
          </a:bodyPr>
          <a:lstStyle/>
          <a:p>
            <a:r>
              <a:rPr lang="zh-TW" altLang="en-US" sz="3000" cap="none" dirty="0"/>
              <a:t>公有雲</a:t>
            </a:r>
            <a:r>
              <a:rPr lang="en-US" altLang="zh-TW" sz="3000" cap="none" dirty="0"/>
              <a:t>, K8s, MongoDB</a:t>
            </a:r>
            <a:r>
              <a:rPr lang="zh-TW" altLang="en-US" sz="3000" cap="none" dirty="0"/>
              <a:t>的特性對</a:t>
            </a:r>
            <a:r>
              <a:rPr lang="en-US" altLang="zh-TW" sz="3000" cap="none" dirty="0"/>
              <a:t>AI</a:t>
            </a:r>
            <a:r>
              <a:rPr lang="zh-TW" altLang="en-US" sz="3000" cap="none" dirty="0"/>
              <a:t> </a:t>
            </a:r>
            <a:r>
              <a:rPr lang="en-US" altLang="zh-TW" sz="3000" cap="none" dirty="0"/>
              <a:t>System</a:t>
            </a:r>
            <a:r>
              <a:rPr lang="zh-TW" altLang="en-US" sz="3000" cap="none" dirty="0"/>
              <a:t>優化以</a:t>
            </a:r>
            <a:r>
              <a:rPr lang="en-US" altLang="zh-TW" sz="3000" cap="none" dirty="0"/>
              <a:t>Spark</a:t>
            </a:r>
            <a:r>
              <a:rPr lang="zh-TW" altLang="en-US" sz="3000" cap="none" dirty="0"/>
              <a:t>為例</a:t>
            </a:r>
            <a:br>
              <a:rPr lang="en-US" altLang="zh-TW" sz="3000" cap="none" dirty="0"/>
            </a:br>
            <a:endParaRPr lang="zh-TW" altLang="en-US" sz="3000" cap="none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4FD403B-8DEE-4537-BC8A-38C945D547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065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82404A-93B2-485F-BE3D-DF844C64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1E361E-23BD-4A55-A7C3-AF165A74C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雲端為何又紅了</a:t>
            </a:r>
            <a:r>
              <a:rPr lang="en-US" altLang="zh-TW" dirty="0"/>
              <a:t>?</a:t>
            </a:r>
            <a:r>
              <a:rPr lang="zh-TW" altLang="en-US" dirty="0"/>
              <a:t> 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調度平台很多，為何用</a:t>
            </a:r>
            <a:r>
              <a:rPr lang="en-US" altLang="zh-TW" dirty="0"/>
              <a:t>K8s?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K8s, GKE</a:t>
            </a:r>
            <a:r>
              <a:rPr lang="zh-TW" altLang="en-US" dirty="0"/>
              <a:t>那些</a:t>
            </a:r>
            <a:r>
              <a:rPr lang="en-US" altLang="zh-TW" dirty="0"/>
              <a:t>Feature</a:t>
            </a:r>
            <a:r>
              <a:rPr lang="zh-TW" altLang="en-US" dirty="0"/>
              <a:t>可以提升</a:t>
            </a:r>
            <a:r>
              <a:rPr lang="en-US" altLang="zh-TW" dirty="0"/>
              <a:t>Spark</a:t>
            </a:r>
            <a:r>
              <a:rPr lang="zh-TW" altLang="en-US" dirty="0"/>
              <a:t>效能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Story Time:  Google</a:t>
            </a:r>
            <a:r>
              <a:rPr lang="zh-TW" altLang="en-US" dirty="0"/>
              <a:t>與</a:t>
            </a:r>
            <a:r>
              <a:rPr lang="en-US" altLang="zh-TW" dirty="0"/>
              <a:t>Apache</a:t>
            </a:r>
            <a:r>
              <a:rPr lang="zh-TW" altLang="en-US" dirty="0"/>
              <a:t>的恩怨情仇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CNI(Container Network Interface)</a:t>
            </a:r>
            <a:r>
              <a:rPr lang="zh-TW" altLang="en-US" dirty="0"/>
              <a:t>與提升</a:t>
            </a:r>
            <a:r>
              <a:rPr lang="en-US" altLang="zh-TW" dirty="0"/>
              <a:t>Spark</a:t>
            </a:r>
            <a:r>
              <a:rPr lang="zh-TW" altLang="en-US" dirty="0"/>
              <a:t>效能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GPU</a:t>
            </a:r>
            <a:r>
              <a:rPr lang="zh-TW" altLang="en-US" dirty="0"/>
              <a:t>與</a:t>
            </a:r>
            <a:r>
              <a:rPr lang="en-US" altLang="zh-TW" dirty="0"/>
              <a:t>K8S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3538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0A4E53-8B4C-4E45-83D8-754F32516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zh-TW" altLang="en-US" cap="none" dirty="0"/>
              <a:t>公有雲為何又紅了</a:t>
            </a:r>
            <a:r>
              <a:rPr lang="en-US" altLang="zh-TW" cap="none" dirty="0"/>
              <a:t>!</a:t>
            </a:r>
            <a:r>
              <a:rPr lang="zh-TW" altLang="en-US" cap="none" dirty="0"/>
              <a:t>這次真的會一直紅下去嗎</a:t>
            </a:r>
            <a:r>
              <a:rPr lang="en-US" altLang="zh-TW" cap="none" dirty="0"/>
              <a:t>?</a:t>
            </a:r>
            <a:r>
              <a:rPr lang="zh-TW" altLang="en-US" cap="none" dirty="0"/>
              <a:t>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62506B-E992-48AB-973B-2341904F4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 2012</a:t>
            </a:r>
            <a:r>
              <a:rPr lang="zh-TW" altLang="en-US" dirty="0"/>
              <a:t>年就有像</a:t>
            </a:r>
            <a:r>
              <a:rPr lang="en-US" altLang="zh-TW" dirty="0"/>
              <a:t>Cloud Foundry</a:t>
            </a:r>
            <a:r>
              <a:rPr lang="zh-TW" altLang="en-US" dirty="0"/>
              <a:t>這樣的</a:t>
            </a:r>
            <a:r>
              <a:rPr lang="en-US" altLang="zh-TW" dirty="0"/>
              <a:t>Open Source PaaS</a:t>
            </a:r>
            <a:r>
              <a:rPr lang="zh-TW" altLang="en-US" dirty="0"/>
              <a:t>那時也很多科技巨頭參與，但終究沒落，為何現在公有雲又紅了</a:t>
            </a:r>
            <a:r>
              <a:rPr lang="en-US" altLang="zh-TW" dirty="0"/>
              <a:t>!</a:t>
            </a:r>
            <a:r>
              <a:rPr lang="zh-TW" altLang="en-US" dirty="0"/>
              <a:t> 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容器的出現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K8s</a:t>
            </a:r>
            <a:r>
              <a:rPr lang="zh-TW" altLang="en-US" dirty="0"/>
              <a:t>出現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Infrastructure as code</a:t>
            </a:r>
            <a:r>
              <a:rPr lang="zh-TW" altLang="en-US" dirty="0"/>
              <a:t> </a:t>
            </a:r>
            <a:r>
              <a:rPr lang="en-US" altLang="zh-TW" dirty="0"/>
              <a:t>and CI/CD  tool </a:t>
            </a:r>
            <a:r>
              <a:rPr lang="zh-TW" altLang="en-US" dirty="0"/>
              <a:t>成熟 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成本考量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84393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2E8367-C5CA-4D28-A3C1-4743C4491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容器的出現</a:t>
            </a:r>
            <a:br>
              <a:rPr lang="en-US" altLang="zh-TW" dirty="0"/>
            </a:b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60A0EC6-88D4-47F5-A071-DF66CD5A3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149" y="3127432"/>
            <a:ext cx="4369705" cy="204504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299F813-DBC2-4825-846E-F1CAC8E08CF8}"/>
              </a:ext>
            </a:extLst>
          </p:cNvPr>
          <p:cNvSpPr/>
          <p:nvPr/>
        </p:nvSpPr>
        <p:spPr>
          <a:xfrm>
            <a:off x="3424435" y="2061716"/>
            <a:ext cx="53431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TW" altLang="en-US" dirty="0"/>
              <a:t>虛擬機閒的要命要嘛就是復載過重</a:t>
            </a:r>
            <a:endParaRPr lang="en-US" altLang="zh-TW" dirty="0"/>
          </a:p>
          <a:p>
            <a:pPr algn="ctr"/>
            <a:r>
              <a:rPr lang="zh-TW" altLang="en-US" dirty="0"/>
              <a:t>你在本地封裝的環境</a:t>
            </a:r>
            <a:r>
              <a:rPr lang="en-US" altLang="zh-TW" dirty="0"/>
              <a:t>Image</a:t>
            </a:r>
            <a:r>
              <a:rPr lang="zh-TW" altLang="en-US" dirty="0"/>
              <a:t>也能毫無差異的雲端呈現</a:t>
            </a:r>
          </a:p>
        </p:txBody>
      </p:sp>
      <p:pic>
        <p:nvPicPr>
          <p:cNvPr id="6" name="圖片 5" descr="一張含有 美工圖案 的圖片&#10;&#10;自動產生的描述">
            <a:extLst>
              <a:ext uri="{FF2B5EF4-FFF2-40B4-BE49-F238E27FC236}">
                <a16:creationId xmlns:a16="http://schemas.microsoft.com/office/drawing/2014/main" id="{D60E1499-C849-4CA2-87B3-800EF4E1A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748" y="3198630"/>
            <a:ext cx="4261468" cy="203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55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C6011D-4137-4E1A-95CD-DBB9803B3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K8s</a:t>
            </a:r>
            <a:r>
              <a:rPr lang="zh-TW" altLang="en-US" dirty="0"/>
              <a:t>出現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A4E8FD-6041-4002-B736-47ED53701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995354" cy="2296624"/>
          </a:xfrm>
        </p:spPr>
        <p:txBody>
          <a:bodyPr/>
          <a:lstStyle/>
          <a:p>
            <a:pPr algn="ctr"/>
            <a:r>
              <a:rPr lang="zh-TW" altLang="en-US" dirty="0"/>
              <a:t>讓原本的</a:t>
            </a:r>
            <a:r>
              <a:rPr lang="en-US" altLang="zh-TW" dirty="0"/>
              <a:t>”</a:t>
            </a:r>
            <a:r>
              <a:rPr lang="zh-TW" altLang="en-US" dirty="0"/>
              <a:t>圈地式調度</a:t>
            </a:r>
            <a:r>
              <a:rPr lang="en-US" altLang="zh-TW" dirty="0"/>
              <a:t>”</a:t>
            </a:r>
            <a:r>
              <a:rPr lang="zh-TW" altLang="en-US" dirty="0"/>
              <a:t>或是</a:t>
            </a:r>
            <a:r>
              <a:rPr lang="en-US" altLang="zh-TW" dirty="0"/>
              <a:t>”Docker Native</a:t>
            </a:r>
            <a:r>
              <a:rPr lang="zh-TW" altLang="en-US" dirty="0"/>
              <a:t>的侷限</a:t>
            </a:r>
            <a:r>
              <a:rPr lang="en-US" altLang="zh-TW" dirty="0"/>
              <a:t>”</a:t>
            </a:r>
            <a:r>
              <a:rPr lang="zh-TW" altLang="en-US" dirty="0"/>
              <a:t>昇華成，整體雲端資源治理</a:t>
            </a:r>
            <a:endParaRPr lang="en-US" altLang="zh-TW" dirty="0"/>
          </a:p>
          <a:p>
            <a:pPr algn="ctr"/>
            <a:r>
              <a:rPr lang="en-US" altLang="zh-TW" dirty="0"/>
              <a:t>K8s</a:t>
            </a:r>
            <a:r>
              <a:rPr lang="zh-TW" altLang="en-US" dirty="0"/>
              <a:t>輕易的切換，早上跑</a:t>
            </a:r>
            <a:r>
              <a:rPr lang="en-US" altLang="zh-TW" dirty="0"/>
              <a:t>WEB/APP </a:t>
            </a:r>
            <a:r>
              <a:rPr lang="zh-TW" altLang="en-US" dirty="0"/>
              <a:t>晚上跑</a:t>
            </a:r>
            <a:r>
              <a:rPr lang="en-US" altLang="zh-TW" dirty="0"/>
              <a:t>AI</a:t>
            </a:r>
            <a:r>
              <a:rPr lang="zh-TW" altLang="en-US" dirty="0"/>
              <a:t> 或是</a:t>
            </a:r>
            <a:r>
              <a:rPr lang="en-US" altLang="zh-TW" dirty="0"/>
              <a:t>Batch</a:t>
            </a:r>
            <a:r>
              <a:rPr lang="zh-TW" altLang="en-US" dirty="0"/>
              <a:t>任務</a:t>
            </a:r>
          </a:p>
        </p:txBody>
      </p:sp>
      <p:pic>
        <p:nvPicPr>
          <p:cNvPr id="5" name="圖片 4" descr="一張含有 建築物, 天空, 室外, 城市 的圖片&#10;&#10;自動產生的描述">
            <a:extLst>
              <a:ext uri="{FF2B5EF4-FFF2-40B4-BE49-F238E27FC236}">
                <a16:creationId xmlns:a16="http://schemas.microsoft.com/office/drawing/2014/main" id="{760DC679-AE0A-472A-A458-4D69E63082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609" y="3115808"/>
            <a:ext cx="5777213" cy="288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6DE12B-1ADA-4A93-8DB2-277D3DE1D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cap="none" dirty="0"/>
              <a:t>Infrastructure as code</a:t>
            </a:r>
            <a:r>
              <a:rPr lang="zh-TW" altLang="en-US" cap="none" dirty="0"/>
              <a:t> </a:t>
            </a:r>
            <a:r>
              <a:rPr lang="en-US" altLang="zh-TW" cap="none" dirty="0"/>
              <a:t>and CI/CD  tool </a:t>
            </a:r>
            <a:r>
              <a:rPr lang="zh-TW" altLang="en-US" cap="none" dirty="0"/>
              <a:t>成熟 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C46DD5-FEC0-4936-B9C5-2598372D5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五分鐘就在</a:t>
            </a:r>
            <a:r>
              <a:rPr lang="en-US" altLang="zh-TW" dirty="0"/>
              <a:t>GKE(Google K8s Engine)</a:t>
            </a:r>
            <a:r>
              <a:rPr lang="zh-TW" altLang="en-US" dirty="0"/>
              <a:t>創造一個</a:t>
            </a:r>
            <a:r>
              <a:rPr lang="en-US" altLang="zh-TW" dirty="0"/>
              <a:t>AI/Big</a:t>
            </a:r>
            <a:r>
              <a:rPr lang="zh-TW" altLang="en-US" dirty="0"/>
              <a:t> </a:t>
            </a:r>
            <a:r>
              <a:rPr lang="en-US" altLang="zh-TW" dirty="0"/>
              <a:t>Data</a:t>
            </a:r>
            <a:r>
              <a:rPr lang="zh-TW" altLang="en-US" dirty="0"/>
              <a:t>群集，用完立即消失，資料放在</a:t>
            </a:r>
            <a:r>
              <a:rPr lang="en-US" altLang="zh-TW" dirty="0"/>
              <a:t>Google Storage </a:t>
            </a:r>
            <a:r>
              <a:rPr lang="zh-TW" altLang="en-US" dirty="0"/>
              <a:t>不需要額外維持</a:t>
            </a:r>
            <a:r>
              <a:rPr lang="en-US" altLang="zh-TW" dirty="0"/>
              <a:t>HDFS Cluster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059214-65FF-4455-B697-AC47D9623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609" y="3022921"/>
            <a:ext cx="5777213" cy="288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9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833CFB-0015-4971-AB7D-8874E97A0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成本考量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91335A-7B81-4A68-8ACC-D0A4DB699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摩爾定律依舊狂奔，</a:t>
            </a:r>
            <a:r>
              <a:rPr lang="en-US" altLang="zh-TW" dirty="0"/>
              <a:t>AMD</a:t>
            </a:r>
            <a:r>
              <a:rPr lang="zh-TW" altLang="en-US" dirty="0"/>
              <a:t>爆發，</a:t>
            </a:r>
            <a:r>
              <a:rPr lang="en-US" altLang="zh-TW" dirty="0"/>
              <a:t>GPU/TPU/FPGA</a:t>
            </a:r>
            <a:r>
              <a:rPr lang="zh-TW" altLang="en-US" dirty="0"/>
              <a:t>的層出不窮，硬體跌價很快</a:t>
            </a:r>
            <a:r>
              <a:rPr lang="en-US" altLang="zh-TW" dirty="0"/>
              <a:t>!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zh-TW" altLang="en-US" dirty="0"/>
              <a:t>我記得</a:t>
            </a:r>
            <a:r>
              <a:rPr lang="en-US" altLang="zh-TW" dirty="0"/>
              <a:t>2017</a:t>
            </a:r>
            <a:r>
              <a:rPr lang="zh-TW" altLang="en-US" dirty="0"/>
              <a:t>年我有看過</a:t>
            </a:r>
            <a:r>
              <a:rPr lang="en-US" altLang="zh-TW" dirty="0"/>
              <a:t>AWS</a:t>
            </a:r>
            <a:r>
              <a:rPr lang="zh-TW" altLang="en-US" dirty="0"/>
              <a:t>新聞稿</a:t>
            </a:r>
            <a:r>
              <a:rPr lang="en-US" altLang="zh-TW" dirty="0"/>
              <a:t>:</a:t>
            </a:r>
            <a:r>
              <a:rPr lang="zh-TW" altLang="en-US" dirty="0"/>
              <a:t> 它的意思是說</a:t>
            </a:r>
            <a:r>
              <a:rPr lang="en-US" altLang="zh-TW" dirty="0"/>
              <a:t>AWS</a:t>
            </a:r>
            <a:r>
              <a:rPr lang="zh-TW" altLang="en-US" dirty="0"/>
              <a:t>降價過</a:t>
            </a:r>
            <a:r>
              <a:rPr lang="en-US" altLang="zh-TW" dirty="0"/>
              <a:t>50</a:t>
            </a:r>
            <a:r>
              <a:rPr lang="zh-TW" altLang="en-US" dirty="0"/>
              <a:t>多次從沒漲價過</a:t>
            </a:r>
          </a:p>
        </p:txBody>
      </p:sp>
      <p:pic>
        <p:nvPicPr>
          <p:cNvPr id="5" name="圖片 4" descr="一張含有 美工圖案 的圖片&#10;&#10;自動產生的描述">
            <a:extLst>
              <a:ext uri="{FF2B5EF4-FFF2-40B4-BE49-F238E27FC236}">
                <a16:creationId xmlns:a16="http://schemas.microsoft.com/office/drawing/2014/main" id="{5EDCA04B-0E2D-4E62-AA5E-FB8A70184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610" y="3049247"/>
            <a:ext cx="5777212" cy="290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66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6928BF-8FE0-42B5-9546-C2867581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調度平台很多，為何用</a:t>
            </a:r>
            <a:r>
              <a:rPr lang="en-US" altLang="zh-TW" dirty="0"/>
              <a:t>K8s?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FC884F-FC6F-4D71-BCEE-CCDE84199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highlight>
                  <a:srgbClr val="FFFF00"/>
                </a:highlight>
              </a:rPr>
              <a:t>更高明的設計</a:t>
            </a:r>
            <a:r>
              <a:rPr lang="en-US" altLang="zh-TW" dirty="0">
                <a:highlight>
                  <a:srgbClr val="FFFF00"/>
                </a:highlight>
              </a:rPr>
              <a:t>(Borg)</a:t>
            </a:r>
            <a:r>
              <a:rPr lang="zh-TW" altLang="en-US" dirty="0">
                <a:highlight>
                  <a:srgbClr val="FFFF00"/>
                </a:highlight>
              </a:rPr>
              <a:t> </a:t>
            </a:r>
            <a:r>
              <a:rPr lang="en-US" altLang="zh-TW" dirty="0">
                <a:highlight>
                  <a:srgbClr val="FFFF00"/>
                </a:highlight>
              </a:rPr>
              <a:t>vs Docker Swarm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更年輕有活力的社群與外部創新或新創</a:t>
            </a:r>
            <a:r>
              <a:rPr lang="en-US" altLang="zh-TW" dirty="0" err="1"/>
              <a:t>Istio</a:t>
            </a:r>
            <a:r>
              <a:rPr lang="en-US" altLang="zh-TW" dirty="0"/>
              <a:t>/Helm…</a:t>
            </a:r>
            <a:r>
              <a:rPr lang="en-US" altLang="zh-TW" dirty="0" err="1"/>
              <a:t>etc</a:t>
            </a:r>
            <a:r>
              <a:rPr lang="zh-TW" altLang="en-US" dirty="0"/>
              <a:t> </a:t>
            </a:r>
            <a:r>
              <a:rPr lang="en-US" altLang="zh-TW" dirty="0"/>
              <a:t>vs </a:t>
            </a:r>
            <a:r>
              <a:rPr lang="zh-TW" altLang="en-US" dirty="0"/>
              <a:t>老邁</a:t>
            </a:r>
            <a:r>
              <a:rPr lang="en-US" altLang="zh-TW" dirty="0"/>
              <a:t>Apache Mesos(2007)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支援多種容器 </a:t>
            </a:r>
            <a:r>
              <a:rPr lang="en-US" altLang="zh-TW" dirty="0"/>
              <a:t> </a:t>
            </a:r>
            <a:r>
              <a:rPr lang="en-US" altLang="zh-TW" dirty="0" err="1"/>
              <a:t>rtk</a:t>
            </a:r>
            <a:r>
              <a:rPr lang="zh-TW" altLang="en-US" dirty="0"/>
              <a:t> </a:t>
            </a:r>
            <a:r>
              <a:rPr lang="en-US" altLang="zh-TW" dirty="0" err="1"/>
              <a:t>runC</a:t>
            </a:r>
            <a:r>
              <a:rPr lang="zh-TW" altLang="en-US" dirty="0"/>
              <a:t> </a:t>
            </a:r>
            <a:r>
              <a:rPr lang="en-US" altLang="zh-TW" dirty="0"/>
              <a:t>LXC/LXD…</a:t>
            </a:r>
            <a:r>
              <a:rPr lang="zh-TW" altLang="en-US" dirty="0"/>
              <a:t>等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CNCF</a:t>
            </a:r>
            <a:r>
              <a:rPr lang="zh-TW" altLang="en-US" dirty="0"/>
              <a:t>基金會與</a:t>
            </a:r>
            <a:r>
              <a:rPr lang="en-US" altLang="zh-TW" dirty="0"/>
              <a:t>RedHat</a:t>
            </a:r>
            <a:r>
              <a:rPr lang="zh-TW" altLang="en-US" dirty="0"/>
              <a:t>與</a:t>
            </a:r>
            <a:r>
              <a:rPr lang="en-US" altLang="zh-TW" dirty="0"/>
              <a:t>Google</a:t>
            </a:r>
            <a:r>
              <a:rPr lang="zh-TW" altLang="en-US" dirty="0"/>
              <a:t>大力支持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連</a:t>
            </a:r>
            <a:r>
              <a:rPr lang="en-US" altLang="zh-TW" dirty="0"/>
              <a:t>IBM</a:t>
            </a:r>
            <a:r>
              <a:rPr lang="zh-TW" altLang="en-US" dirty="0"/>
              <a:t>都垂涎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總之</a:t>
            </a:r>
            <a:r>
              <a:rPr lang="en-US" altLang="zh-TW" dirty="0"/>
              <a:t>K8s</a:t>
            </a:r>
            <a:r>
              <a:rPr lang="zh-TW" altLang="en-US" dirty="0"/>
              <a:t>會贏不是爾然他是天時地利人和下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b="1" dirty="0"/>
          </a:p>
          <a:p>
            <a:endParaRPr lang="en-US" altLang="zh-TW" b="1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0760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6928BF-8FE0-42B5-9546-C2867581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調度平台很多，為何用</a:t>
            </a:r>
            <a:r>
              <a:rPr lang="en-US" altLang="zh-TW" dirty="0"/>
              <a:t>K8s?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FC884F-FC6F-4D71-BCEE-CCDE84199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更高明的設計</a:t>
            </a:r>
            <a:r>
              <a:rPr lang="en-US" altLang="zh-TW" dirty="0"/>
              <a:t>(Borg)</a:t>
            </a:r>
            <a:r>
              <a:rPr lang="zh-TW" altLang="en-US" dirty="0"/>
              <a:t> </a:t>
            </a:r>
            <a:r>
              <a:rPr lang="en-US" altLang="zh-TW" dirty="0"/>
              <a:t>vs Docker Swarm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highlight>
                  <a:srgbClr val="FFFF00"/>
                </a:highlight>
              </a:rPr>
              <a:t>更年輕有活力的社群與外部創新或新創</a:t>
            </a:r>
            <a:r>
              <a:rPr lang="en-US" altLang="zh-TW" dirty="0" err="1">
                <a:highlight>
                  <a:srgbClr val="FFFF00"/>
                </a:highlight>
              </a:rPr>
              <a:t>Istio</a:t>
            </a:r>
            <a:r>
              <a:rPr lang="en-US" altLang="zh-TW" dirty="0">
                <a:highlight>
                  <a:srgbClr val="FFFF00"/>
                </a:highlight>
              </a:rPr>
              <a:t>/Helm…</a:t>
            </a:r>
            <a:r>
              <a:rPr lang="en-US" altLang="zh-TW" dirty="0" err="1">
                <a:highlight>
                  <a:srgbClr val="FFFF00"/>
                </a:highlight>
              </a:rPr>
              <a:t>etc</a:t>
            </a:r>
            <a:r>
              <a:rPr lang="zh-TW" altLang="en-US" dirty="0">
                <a:highlight>
                  <a:srgbClr val="FFFF00"/>
                </a:highlight>
              </a:rPr>
              <a:t> </a:t>
            </a:r>
            <a:r>
              <a:rPr lang="en-US" altLang="zh-TW" dirty="0">
                <a:highlight>
                  <a:srgbClr val="FFFF00"/>
                </a:highlight>
              </a:rPr>
              <a:t>vs </a:t>
            </a:r>
            <a:r>
              <a:rPr lang="zh-TW" altLang="en-US" dirty="0">
                <a:highlight>
                  <a:srgbClr val="FFFF00"/>
                </a:highlight>
              </a:rPr>
              <a:t>老邁</a:t>
            </a:r>
            <a:r>
              <a:rPr lang="en-US" altLang="zh-TW" dirty="0">
                <a:highlight>
                  <a:srgbClr val="FFFF00"/>
                </a:highlight>
              </a:rPr>
              <a:t>Apache Mesos(2007)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支援多種容器 </a:t>
            </a:r>
            <a:r>
              <a:rPr lang="en-US" altLang="zh-TW" dirty="0"/>
              <a:t> </a:t>
            </a:r>
            <a:r>
              <a:rPr lang="en-US" altLang="zh-TW" dirty="0" err="1"/>
              <a:t>rtk</a:t>
            </a:r>
            <a:r>
              <a:rPr lang="zh-TW" altLang="en-US" dirty="0"/>
              <a:t> </a:t>
            </a:r>
            <a:r>
              <a:rPr lang="en-US" altLang="zh-TW" dirty="0" err="1"/>
              <a:t>runC</a:t>
            </a:r>
            <a:r>
              <a:rPr lang="zh-TW" altLang="en-US" dirty="0"/>
              <a:t> </a:t>
            </a:r>
            <a:r>
              <a:rPr lang="en-US" altLang="zh-TW" dirty="0"/>
              <a:t>LXC/LXD…</a:t>
            </a:r>
            <a:r>
              <a:rPr lang="zh-TW" altLang="en-US" dirty="0"/>
              <a:t>等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CNCF</a:t>
            </a:r>
            <a:r>
              <a:rPr lang="zh-TW" altLang="en-US" dirty="0"/>
              <a:t>基金會與</a:t>
            </a:r>
            <a:r>
              <a:rPr lang="en-US" altLang="zh-TW" dirty="0"/>
              <a:t>RedHat</a:t>
            </a:r>
            <a:r>
              <a:rPr lang="zh-TW" altLang="en-US" dirty="0"/>
              <a:t>與</a:t>
            </a:r>
            <a:r>
              <a:rPr lang="en-US" altLang="zh-TW" dirty="0"/>
              <a:t>Google</a:t>
            </a:r>
            <a:r>
              <a:rPr lang="zh-TW" altLang="en-US" dirty="0"/>
              <a:t>大力支持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連</a:t>
            </a:r>
            <a:r>
              <a:rPr lang="en-US" altLang="zh-TW" dirty="0"/>
              <a:t>IBM</a:t>
            </a:r>
            <a:r>
              <a:rPr lang="zh-TW" altLang="en-US" dirty="0"/>
              <a:t>都垂涎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總之</a:t>
            </a:r>
            <a:r>
              <a:rPr lang="en-US" altLang="zh-TW" dirty="0"/>
              <a:t>K8s</a:t>
            </a:r>
            <a:r>
              <a:rPr lang="zh-TW" altLang="en-US" dirty="0"/>
              <a:t>會贏不是爾然他是天時地利人和下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b="1" dirty="0"/>
          </a:p>
          <a:p>
            <a:endParaRPr lang="en-US" altLang="zh-TW" b="1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4665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6928BF-8FE0-42B5-9546-C2867581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調度平台很多，為何用</a:t>
            </a:r>
            <a:r>
              <a:rPr lang="en-US" altLang="zh-TW" dirty="0"/>
              <a:t>K8s?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FC884F-FC6F-4D71-BCEE-CCDE84199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更高明的設計</a:t>
            </a:r>
            <a:r>
              <a:rPr lang="en-US" altLang="zh-TW" dirty="0"/>
              <a:t>(Borg)</a:t>
            </a:r>
            <a:r>
              <a:rPr lang="zh-TW" altLang="en-US" dirty="0"/>
              <a:t> </a:t>
            </a:r>
            <a:r>
              <a:rPr lang="en-US" altLang="zh-TW" dirty="0"/>
              <a:t>vs Docker Swarm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更年輕有活力的社群與外部創新或新創</a:t>
            </a:r>
            <a:r>
              <a:rPr lang="en-US" altLang="zh-TW" dirty="0" err="1"/>
              <a:t>Istio</a:t>
            </a:r>
            <a:r>
              <a:rPr lang="en-US" altLang="zh-TW" dirty="0"/>
              <a:t>/Helm…</a:t>
            </a:r>
            <a:r>
              <a:rPr lang="en-US" altLang="zh-TW" dirty="0" err="1"/>
              <a:t>etc</a:t>
            </a:r>
            <a:r>
              <a:rPr lang="zh-TW" altLang="en-US" dirty="0"/>
              <a:t> </a:t>
            </a:r>
            <a:r>
              <a:rPr lang="en-US" altLang="zh-TW" dirty="0"/>
              <a:t>vs </a:t>
            </a:r>
            <a:r>
              <a:rPr lang="zh-TW" altLang="en-US" dirty="0"/>
              <a:t>老邁</a:t>
            </a:r>
            <a:r>
              <a:rPr lang="en-US" altLang="zh-TW" dirty="0"/>
              <a:t>Apache Mesos(2007)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highlight>
                  <a:srgbClr val="FFFF00"/>
                </a:highlight>
              </a:rPr>
              <a:t>支援多種容器 </a:t>
            </a:r>
            <a:r>
              <a:rPr lang="en-US" altLang="zh-TW" dirty="0">
                <a:highlight>
                  <a:srgbClr val="FFFF00"/>
                </a:highlight>
              </a:rPr>
              <a:t> </a:t>
            </a:r>
            <a:r>
              <a:rPr lang="en-US" altLang="zh-TW" dirty="0" err="1">
                <a:highlight>
                  <a:srgbClr val="FFFF00"/>
                </a:highlight>
              </a:rPr>
              <a:t>rtk</a:t>
            </a:r>
            <a:r>
              <a:rPr lang="zh-TW" altLang="en-US" dirty="0">
                <a:highlight>
                  <a:srgbClr val="FFFF00"/>
                </a:highlight>
              </a:rPr>
              <a:t> </a:t>
            </a:r>
            <a:r>
              <a:rPr lang="en-US" altLang="zh-TW" dirty="0" err="1">
                <a:highlight>
                  <a:srgbClr val="FFFF00"/>
                </a:highlight>
              </a:rPr>
              <a:t>runC</a:t>
            </a:r>
            <a:r>
              <a:rPr lang="zh-TW" altLang="en-US" dirty="0">
                <a:highlight>
                  <a:srgbClr val="FFFF00"/>
                </a:highlight>
              </a:rPr>
              <a:t> </a:t>
            </a:r>
            <a:r>
              <a:rPr lang="en-US" altLang="zh-TW" dirty="0">
                <a:highlight>
                  <a:srgbClr val="FFFF00"/>
                </a:highlight>
              </a:rPr>
              <a:t>LXC/LXD…</a:t>
            </a:r>
            <a:r>
              <a:rPr lang="zh-TW" altLang="en-US" dirty="0">
                <a:highlight>
                  <a:srgbClr val="FFFF00"/>
                </a:highlight>
              </a:rPr>
              <a:t>等</a:t>
            </a:r>
            <a:endParaRPr lang="en-US" altLang="zh-TW" dirty="0"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CNCF</a:t>
            </a:r>
            <a:r>
              <a:rPr lang="zh-TW" altLang="en-US" dirty="0"/>
              <a:t>基金會與</a:t>
            </a:r>
            <a:r>
              <a:rPr lang="en-US" altLang="zh-TW" dirty="0"/>
              <a:t>RedHat</a:t>
            </a:r>
            <a:r>
              <a:rPr lang="zh-TW" altLang="en-US" dirty="0"/>
              <a:t>與</a:t>
            </a:r>
            <a:r>
              <a:rPr lang="en-US" altLang="zh-TW" dirty="0"/>
              <a:t>Google</a:t>
            </a:r>
            <a:r>
              <a:rPr lang="zh-TW" altLang="en-US" dirty="0"/>
              <a:t>大力支持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連</a:t>
            </a:r>
            <a:r>
              <a:rPr lang="en-US" altLang="zh-TW" dirty="0"/>
              <a:t>IBM</a:t>
            </a:r>
            <a:r>
              <a:rPr lang="zh-TW" altLang="en-US" dirty="0"/>
              <a:t>都垂涎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總之</a:t>
            </a:r>
            <a:r>
              <a:rPr lang="en-US" altLang="zh-TW" dirty="0"/>
              <a:t>K8s</a:t>
            </a:r>
            <a:r>
              <a:rPr lang="zh-TW" altLang="en-US" dirty="0"/>
              <a:t>會贏不是爾然他是天時地利人和下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b="1" dirty="0"/>
          </a:p>
          <a:p>
            <a:endParaRPr lang="en-US" altLang="zh-TW" b="1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0066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6928BF-8FE0-42B5-9546-C2867581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調度平台很多，為何用</a:t>
            </a:r>
            <a:r>
              <a:rPr lang="en-US" altLang="zh-TW" dirty="0"/>
              <a:t>K8s?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FC884F-FC6F-4D71-BCEE-CCDE84199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更高明的設計</a:t>
            </a:r>
            <a:r>
              <a:rPr lang="en-US" altLang="zh-TW" dirty="0"/>
              <a:t>(Borg)</a:t>
            </a:r>
            <a:r>
              <a:rPr lang="zh-TW" altLang="en-US" dirty="0"/>
              <a:t> </a:t>
            </a:r>
            <a:r>
              <a:rPr lang="en-US" altLang="zh-TW" dirty="0"/>
              <a:t>vs Docker Swarm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更年輕有活力的社群與外部創新或新創</a:t>
            </a:r>
            <a:r>
              <a:rPr lang="en-US" altLang="zh-TW" dirty="0" err="1"/>
              <a:t>Istio</a:t>
            </a:r>
            <a:r>
              <a:rPr lang="en-US" altLang="zh-TW" dirty="0"/>
              <a:t>/Helm…</a:t>
            </a:r>
            <a:r>
              <a:rPr lang="en-US" altLang="zh-TW" dirty="0" err="1"/>
              <a:t>etc</a:t>
            </a:r>
            <a:r>
              <a:rPr lang="zh-TW" altLang="en-US" dirty="0"/>
              <a:t> </a:t>
            </a:r>
            <a:r>
              <a:rPr lang="en-US" altLang="zh-TW" dirty="0"/>
              <a:t>vs </a:t>
            </a:r>
            <a:r>
              <a:rPr lang="zh-TW" altLang="en-US" dirty="0"/>
              <a:t>老邁</a:t>
            </a:r>
            <a:r>
              <a:rPr lang="en-US" altLang="zh-TW" dirty="0"/>
              <a:t>Apache Mesos(2007)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支援多種容器 </a:t>
            </a:r>
            <a:r>
              <a:rPr lang="en-US" altLang="zh-TW" dirty="0"/>
              <a:t> </a:t>
            </a:r>
            <a:r>
              <a:rPr lang="en-US" altLang="zh-TW" dirty="0" err="1"/>
              <a:t>rtk</a:t>
            </a:r>
            <a:r>
              <a:rPr lang="zh-TW" altLang="en-US" dirty="0"/>
              <a:t> </a:t>
            </a:r>
            <a:r>
              <a:rPr lang="en-US" altLang="zh-TW" dirty="0" err="1"/>
              <a:t>runC</a:t>
            </a:r>
            <a:r>
              <a:rPr lang="zh-TW" altLang="en-US" dirty="0"/>
              <a:t> </a:t>
            </a:r>
            <a:r>
              <a:rPr lang="en-US" altLang="zh-TW" dirty="0"/>
              <a:t>LXC/LXD…</a:t>
            </a:r>
            <a:r>
              <a:rPr lang="zh-TW" altLang="en-US" dirty="0"/>
              <a:t>等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>
                <a:highlight>
                  <a:srgbClr val="FFFF00"/>
                </a:highlight>
              </a:rPr>
              <a:t>CNCF</a:t>
            </a:r>
            <a:r>
              <a:rPr lang="zh-TW" altLang="en-US" dirty="0">
                <a:highlight>
                  <a:srgbClr val="FFFF00"/>
                </a:highlight>
              </a:rPr>
              <a:t>基金會與</a:t>
            </a:r>
            <a:r>
              <a:rPr lang="en-US" altLang="zh-TW" dirty="0">
                <a:highlight>
                  <a:srgbClr val="FFFF00"/>
                </a:highlight>
              </a:rPr>
              <a:t>RedHat</a:t>
            </a:r>
            <a:r>
              <a:rPr lang="zh-TW" altLang="en-US" dirty="0">
                <a:highlight>
                  <a:srgbClr val="FFFF00"/>
                </a:highlight>
              </a:rPr>
              <a:t>與</a:t>
            </a:r>
            <a:r>
              <a:rPr lang="en-US" altLang="zh-TW" dirty="0">
                <a:highlight>
                  <a:srgbClr val="FFFF00"/>
                </a:highlight>
              </a:rPr>
              <a:t>Google</a:t>
            </a:r>
            <a:r>
              <a:rPr lang="zh-TW" altLang="en-US" dirty="0">
                <a:highlight>
                  <a:srgbClr val="FFFF00"/>
                </a:highlight>
              </a:rPr>
              <a:t>大力支持</a:t>
            </a:r>
            <a:endParaRPr lang="en-US" altLang="zh-TW" dirty="0"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IBM</a:t>
            </a:r>
            <a:r>
              <a:rPr lang="zh-TW" altLang="en-US" dirty="0"/>
              <a:t>砸了</a:t>
            </a:r>
            <a:r>
              <a:rPr lang="en-US" altLang="zh-TW" dirty="0"/>
              <a:t>1</a:t>
            </a:r>
            <a:r>
              <a:rPr lang="zh-TW" altLang="en-US" dirty="0"/>
              <a:t>兆台幣併購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b="1" dirty="0"/>
          </a:p>
          <a:p>
            <a:endParaRPr lang="en-US" altLang="zh-TW" b="1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14684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294260-A2C1-47E1-B9F1-372949D0F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K8s, GKE</a:t>
            </a:r>
            <a:r>
              <a:rPr lang="zh-TW" altLang="en-US" dirty="0"/>
              <a:t>那些特性可以提升</a:t>
            </a:r>
            <a:r>
              <a:rPr lang="en-US" altLang="zh-TW" dirty="0"/>
              <a:t>Spark</a:t>
            </a:r>
            <a:r>
              <a:rPr lang="zh-TW" altLang="en-US" dirty="0"/>
              <a:t>效能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EA7FAD-3CFA-4889-BF27-6EA38EC95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what feature can improve performance of spark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8642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CD6907-D35C-47F8-9D3A-E6E24EA7F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/>
              <a:t>K8s feature for spark</a:t>
            </a:r>
            <a:r>
              <a:rPr lang="zh-TW" altLang="en-US" cap="none" dirty="0"/>
              <a:t>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9467F5-2F2C-46CB-B8A9-60C109944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ighlight>
                  <a:srgbClr val="FFFF00"/>
                </a:highlight>
              </a:rPr>
              <a:t>Namespace</a:t>
            </a:r>
            <a:r>
              <a:rPr lang="zh-TW" altLang="en-US" dirty="0">
                <a:highlight>
                  <a:srgbClr val="FFFF00"/>
                </a:highlight>
              </a:rPr>
              <a:t>  </a:t>
            </a:r>
            <a:endParaRPr lang="en-US" altLang="zh-TW" dirty="0">
              <a:highlight>
                <a:srgbClr val="FFFF00"/>
              </a:highlight>
            </a:endParaRPr>
          </a:p>
          <a:p>
            <a:r>
              <a:rPr lang="en-US" altLang="zh-TW" dirty="0"/>
              <a:t>Lebel</a:t>
            </a:r>
            <a:r>
              <a:rPr lang="zh-TW" altLang="en-US" dirty="0"/>
              <a:t> </a:t>
            </a:r>
            <a:r>
              <a:rPr lang="en-US" altLang="zh-TW" dirty="0"/>
              <a:t>and Lebel Selector</a:t>
            </a:r>
          </a:p>
          <a:p>
            <a:r>
              <a:rPr lang="en-US" altLang="zh-TW" dirty="0"/>
              <a:t>Taints and Tolerations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8958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CD6907-D35C-47F8-9D3A-E6E24EA7F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/>
              <a:t>K8s feature for spark</a:t>
            </a:r>
            <a:r>
              <a:rPr lang="zh-TW" altLang="en-US" cap="none" dirty="0"/>
              <a:t>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9467F5-2F2C-46CB-B8A9-60C109944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Namespace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>
                <a:highlight>
                  <a:srgbClr val="FFFF00"/>
                </a:highlight>
              </a:rPr>
              <a:t>Lebel</a:t>
            </a:r>
            <a:r>
              <a:rPr lang="zh-TW" altLang="en-US" dirty="0">
                <a:highlight>
                  <a:srgbClr val="FFFF00"/>
                </a:highlight>
              </a:rPr>
              <a:t> </a:t>
            </a:r>
            <a:r>
              <a:rPr lang="en-US" altLang="zh-TW" dirty="0">
                <a:highlight>
                  <a:srgbClr val="FFFF00"/>
                </a:highlight>
              </a:rPr>
              <a:t>and Lebel Selector</a:t>
            </a:r>
          </a:p>
          <a:p>
            <a:r>
              <a:rPr lang="en-US" altLang="zh-TW" dirty="0"/>
              <a:t>Taints and Tolerations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885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CD6907-D35C-47F8-9D3A-E6E24EA7F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/>
              <a:t>K8s feature for spark</a:t>
            </a:r>
            <a:r>
              <a:rPr lang="zh-TW" altLang="en-US" cap="none" dirty="0"/>
              <a:t>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29467F5-2F2C-46CB-B8A9-60C1099447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Namespace</a:t>
            </a:r>
            <a:r>
              <a:rPr lang="zh-TW" altLang="en-US" dirty="0"/>
              <a:t> </a:t>
            </a:r>
            <a:endParaRPr lang="en-US" altLang="zh-TW" dirty="0"/>
          </a:p>
          <a:p>
            <a:r>
              <a:rPr lang="en-US" altLang="zh-TW" dirty="0"/>
              <a:t>Lebel</a:t>
            </a:r>
            <a:r>
              <a:rPr lang="zh-TW" altLang="en-US" dirty="0"/>
              <a:t> </a:t>
            </a:r>
            <a:r>
              <a:rPr lang="en-US" altLang="zh-TW" dirty="0"/>
              <a:t>and Lebel Selector</a:t>
            </a:r>
          </a:p>
          <a:p>
            <a:r>
              <a:rPr lang="en-US" altLang="zh-TW" dirty="0">
                <a:highlight>
                  <a:srgbClr val="FFFF00"/>
                </a:highlight>
              </a:rPr>
              <a:t>Taints and Tolerations</a:t>
            </a:r>
            <a:endParaRPr lang="zh-TW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07518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EB87DB-9489-4261-BBE3-BD7615C9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8337FC-52D8-43C2-AFF0-B0F5D2B83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ighlight>
                  <a:srgbClr val="FFFF00"/>
                </a:highlight>
              </a:rPr>
              <a:t>CPU Manager</a:t>
            </a:r>
          </a:p>
          <a:p>
            <a:r>
              <a:rPr lang="en-US" altLang="zh-TW" dirty="0"/>
              <a:t>Anti-affinity</a:t>
            </a:r>
          </a:p>
          <a:p>
            <a:endParaRPr lang="zh-TW" altLang="en-US" dirty="0"/>
          </a:p>
        </p:txBody>
      </p:sp>
      <p:pic>
        <p:nvPicPr>
          <p:cNvPr id="6" name="圖片 5" descr="一張含有 螢幕擷取畫面 的圖片&#10;&#10;自動產生的描述">
            <a:extLst>
              <a:ext uri="{FF2B5EF4-FFF2-40B4-BE49-F238E27FC236}">
                <a16:creationId xmlns:a16="http://schemas.microsoft.com/office/drawing/2014/main" id="{22E631EC-F8E5-48B9-ADEC-A6EAEE712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547" y="2421410"/>
            <a:ext cx="4045337" cy="277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677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EB87DB-9489-4261-BBE3-BD7615C9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8337FC-52D8-43C2-AFF0-B0F5D2B83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CPU Manager</a:t>
            </a:r>
          </a:p>
          <a:p>
            <a:r>
              <a:rPr lang="en-US" altLang="zh-TW" dirty="0">
                <a:highlight>
                  <a:srgbClr val="FFFF00"/>
                </a:highlight>
              </a:rPr>
              <a:t>Anti-affinity</a:t>
            </a:r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71458AF-701C-415A-B258-20220575C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044" y="2474752"/>
            <a:ext cx="4090344" cy="277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8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2A009D-6606-4266-9172-83E9C4DC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cap="none" dirty="0"/>
              <a:t>GKE feature for spark  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34AA6A-859A-4EA8-A99F-C5F4C4896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Faster deploy +CI(5 min)</a:t>
            </a:r>
            <a:r>
              <a:rPr lang="zh-TW" altLang="en-US" dirty="0"/>
              <a:t> </a:t>
            </a:r>
            <a:r>
              <a:rPr lang="en-US" altLang="zh-TW" dirty="0"/>
              <a:t>vs AKS EKS</a:t>
            </a:r>
          </a:p>
          <a:p>
            <a:r>
              <a:rPr lang="en-US" altLang="zh-TW" dirty="0"/>
              <a:t>Master of K8s is free</a:t>
            </a:r>
          </a:p>
          <a:p>
            <a:r>
              <a:rPr lang="en-US" altLang="zh-TW" dirty="0">
                <a:solidFill>
                  <a:schemeClr val="dk1"/>
                </a:solidFill>
              </a:rPr>
              <a:t>Preemptible  node (50% Off</a:t>
            </a:r>
            <a:r>
              <a:rPr lang="zh-TW" altLang="en-US" dirty="0">
                <a:solidFill>
                  <a:schemeClr val="dk1"/>
                </a:solidFill>
              </a:rPr>
              <a:t> </a:t>
            </a:r>
            <a:r>
              <a:rPr lang="en-US" altLang="zh-TW" dirty="0">
                <a:solidFill>
                  <a:schemeClr val="dk1"/>
                </a:solidFill>
              </a:rPr>
              <a:t>at CPU/GPU,</a:t>
            </a:r>
            <a:r>
              <a:rPr lang="zh-TW" altLang="en-US" dirty="0">
                <a:solidFill>
                  <a:schemeClr val="dk1"/>
                </a:solidFill>
              </a:rPr>
              <a:t>但生存時間小於</a:t>
            </a:r>
            <a:r>
              <a:rPr lang="en-US" altLang="zh-TW" dirty="0">
                <a:solidFill>
                  <a:schemeClr val="dk1"/>
                </a:solidFill>
              </a:rPr>
              <a:t>24</a:t>
            </a:r>
            <a:r>
              <a:rPr lang="zh-TW" altLang="en-US" dirty="0">
                <a:solidFill>
                  <a:schemeClr val="dk1"/>
                </a:solidFill>
              </a:rPr>
              <a:t>小時</a:t>
            </a:r>
            <a:r>
              <a:rPr lang="en-US" altLang="zh-TW" dirty="0">
                <a:solidFill>
                  <a:schemeClr val="dk1"/>
                </a:solidFill>
              </a:rPr>
              <a:t>)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Support Calico (</a:t>
            </a:r>
            <a:r>
              <a:rPr lang="zh-TW" altLang="en-US" dirty="0">
                <a:solidFill>
                  <a:srgbClr val="FF0000"/>
                </a:solidFill>
              </a:rPr>
              <a:t>在</a:t>
            </a:r>
            <a:r>
              <a:rPr lang="en-US" altLang="zh-TW" dirty="0">
                <a:solidFill>
                  <a:srgbClr val="FF0000"/>
                </a:solidFill>
              </a:rPr>
              <a:t>Intel</a:t>
            </a:r>
            <a:r>
              <a:rPr lang="zh-TW" altLang="en-US" dirty="0">
                <a:solidFill>
                  <a:srgbClr val="FF0000"/>
                </a:solidFill>
              </a:rPr>
              <a:t> 與華為的報告中指出</a:t>
            </a:r>
            <a:r>
              <a:rPr lang="en-US" altLang="zh-TW" dirty="0">
                <a:solidFill>
                  <a:srgbClr val="FF0000"/>
                </a:solidFill>
              </a:rPr>
              <a:t>Calico</a:t>
            </a:r>
            <a:r>
              <a:rPr lang="zh-TW" altLang="en-US" dirty="0">
                <a:solidFill>
                  <a:srgbClr val="FF0000"/>
                </a:solidFill>
              </a:rPr>
              <a:t>可以有效提升</a:t>
            </a:r>
            <a:r>
              <a:rPr lang="en-US" altLang="zh-TW" dirty="0">
                <a:solidFill>
                  <a:srgbClr val="FF0000"/>
                </a:solidFill>
              </a:rPr>
              <a:t>Spark</a:t>
            </a:r>
            <a:r>
              <a:rPr lang="zh-TW" altLang="en-US" dirty="0">
                <a:solidFill>
                  <a:srgbClr val="FF0000"/>
                </a:solidFill>
              </a:rPr>
              <a:t>效能後面會講述原理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99970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1112F2-9B1A-451C-A7A2-402CD9BC9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8970" y="759361"/>
            <a:ext cx="9774692" cy="2541431"/>
          </a:xfrm>
        </p:spPr>
        <p:txBody>
          <a:bodyPr>
            <a:normAutofit/>
          </a:bodyPr>
          <a:lstStyle/>
          <a:p>
            <a:r>
              <a:rPr lang="zh-TW" altLang="en-US" sz="3000" cap="none" dirty="0"/>
              <a:t>在進入下半段</a:t>
            </a:r>
            <a:r>
              <a:rPr lang="en-US" altLang="zh-TW" sz="3000" cap="none" dirty="0"/>
              <a:t>K8s</a:t>
            </a:r>
            <a:r>
              <a:rPr lang="zh-TW" altLang="en-US" sz="3000" cap="none" dirty="0"/>
              <a:t>網路原理之前來段小故事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4FD403B-8DEE-4537-BC8A-38C945D547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9482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95863E-8CB5-4277-B58D-F61EEE7F6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/>
              <a:t>Story Time:  Google</a:t>
            </a:r>
            <a:r>
              <a:rPr lang="zh-TW" altLang="en-US" cap="none" dirty="0"/>
              <a:t>與</a:t>
            </a:r>
            <a:r>
              <a:rPr lang="en-US" altLang="zh-TW" dirty="0"/>
              <a:t>Apache</a:t>
            </a:r>
            <a:r>
              <a:rPr lang="zh-TW" altLang="en-US" cap="none" dirty="0"/>
              <a:t>的恩怨情仇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43C42D-ED6C-44E6-BA1C-59E366433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話說</a:t>
            </a:r>
            <a:r>
              <a:rPr lang="en-US" altLang="zh-TW" dirty="0"/>
              <a:t>Doug Cutting </a:t>
            </a:r>
            <a:r>
              <a:rPr lang="zh-TW" altLang="en-US" dirty="0"/>
              <a:t>大神當年根据谷歌的</a:t>
            </a:r>
            <a:r>
              <a:rPr lang="en-US" altLang="zh-TW" dirty="0"/>
              <a:t>3</a:t>
            </a:r>
            <a:r>
              <a:rPr lang="zh-TW" altLang="en-US" dirty="0"/>
              <a:t>篇论文实现出 </a:t>
            </a:r>
            <a:r>
              <a:rPr lang="en-US" altLang="zh-TW" dirty="0" err="1"/>
              <a:t>Hadoop+MapReduce</a:t>
            </a:r>
            <a:r>
              <a:rPr lang="zh-TW" altLang="en-US" dirty="0"/>
              <a:t>揭開一個時代的序幕</a:t>
            </a:r>
            <a:endParaRPr lang="en-US" altLang="zh-TW" dirty="0"/>
          </a:p>
          <a:p>
            <a:r>
              <a:rPr lang="en-US" altLang="zh-TW" dirty="0"/>
              <a:t>Google</a:t>
            </a:r>
            <a:r>
              <a:rPr lang="zh-TW" altLang="en-US" dirty="0"/>
              <a:t>當時只滿足於學術成就，一回首</a:t>
            </a:r>
            <a:r>
              <a:rPr lang="en-US" altLang="zh-TW" dirty="0"/>
              <a:t>Hadoop</a:t>
            </a:r>
            <a:r>
              <a:rPr lang="zh-TW" altLang="en-US" dirty="0"/>
              <a:t>之苗已長成巨大的森林</a:t>
            </a:r>
            <a:endParaRPr lang="en-US" altLang="zh-TW" dirty="0"/>
          </a:p>
          <a:p>
            <a:r>
              <a:rPr lang="zh-TW" altLang="en-US" dirty="0"/>
              <a:t>還誕生了三隻獨角獸</a:t>
            </a:r>
            <a:r>
              <a:rPr lang="en-US" altLang="zh-TW" dirty="0"/>
              <a:t>Cloudera Hortonworks MAPR</a:t>
            </a:r>
            <a:r>
              <a:rPr lang="zh-TW" altLang="en-US" dirty="0"/>
              <a:t> 漫步其中</a:t>
            </a:r>
            <a:endParaRPr lang="en-US" altLang="zh-TW" dirty="0"/>
          </a:p>
          <a:p>
            <a:r>
              <a:rPr lang="zh-TW" altLang="en-US" dirty="0"/>
              <a:t>那麼大的餅</a:t>
            </a:r>
            <a:r>
              <a:rPr lang="en-US" altLang="zh-TW" dirty="0"/>
              <a:t>Google</a:t>
            </a:r>
            <a:r>
              <a:rPr lang="zh-TW" altLang="en-US" dirty="0"/>
              <a:t>當然要分一杯羹拉，於是開源了</a:t>
            </a:r>
            <a:r>
              <a:rPr lang="en-US" altLang="zh-TW" dirty="0"/>
              <a:t>Apache Beam </a:t>
            </a:r>
            <a:r>
              <a:rPr lang="zh-TW" altLang="en-US" dirty="0"/>
              <a:t>希望加入</a:t>
            </a:r>
            <a:r>
              <a:rPr lang="en-US" altLang="zh-TW" dirty="0"/>
              <a:t>Hadoop</a:t>
            </a:r>
            <a:r>
              <a:rPr lang="zh-TW" altLang="en-US" dirty="0"/>
              <a:t>生態系，但是只有</a:t>
            </a:r>
            <a:r>
              <a:rPr lang="en-US" altLang="zh-TW" dirty="0" err="1"/>
              <a:t>Flink</a:t>
            </a:r>
            <a:r>
              <a:rPr lang="zh-TW" altLang="en-US" dirty="0"/>
              <a:t> 願意合作，而</a:t>
            </a:r>
            <a:r>
              <a:rPr lang="en-US" altLang="zh-TW" dirty="0" err="1"/>
              <a:t>Flink</a:t>
            </a:r>
            <a:r>
              <a:rPr lang="zh-TW" altLang="en-US" dirty="0"/>
              <a:t>加入的目的只是為了藉</a:t>
            </a:r>
            <a:r>
              <a:rPr lang="en-US" altLang="zh-TW" dirty="0"/>
              <a:t>Google</a:t>
            </a:r>
            <a:r>
              <a:rPr lang="zh-TW" altLang="en-US" dirty="0"/>
              <a:t>之力打敗</a:t>
            </a:r>
            <a:r>
              <a:rPr lang="en-US" altLang="zh-TW" dirty="0"/>
              <a:t>Spark</a:t>
            </a:r>
            <a:br>
              <a:rPr lang="en-US" altLang="zh-TW" dirty="0">
                <a:hlinkClick r:id="rId3"/>
              </a:rPr>
            </a:b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27878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4B527D-A8E9-4418-AB1D-CC7708C7D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altLang="zh-TW" cap="none" dirty="0"/>
              <a:t>Story Time:  Google</a:t>
            </a:r>
            <a:r>
              <a:rPr lang="zh-TW" altLang="en-US" cap="none" dirty="0"/>
              <a:t>與</a:t>
            </a:r>
            <a:r>
              <a:rPr lang="en-US" altLang="zh-TW" dirty="0"/>
              <a:t>Apache</a:t>
            </a:r>
            <a:r>
              <a:rPr lang="zh-TW" altLang="en-US" cap="none" dirty="0"/>
              <a:t>的恩怨情仇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2D80A3-41C0-4D62-8914-F224936E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/>
          <a:lstStyle/>
          <a:p>
            <a:r>
              <a:rPr lang="zh-TW" altLang="en-US" dirty="0"/>
              <a:t>可惜從</a:t>
            </a:r>
            <a:r>
              <a:rPr lang="en-US" altLang="zh-TW" dirty="0"/>
              <a:t>2015</a:t>
            </a:r>
            <a:r>
              <a:rPr lang="zh-TW" altLang="en-US" dirty="0"/>
              <a:t>到</a:t>
            </a:r>
            <a:r>
              <a:rPr lang="en-US" altLang="zh-TW" dirty="0"/>
              <a:t>2019</a:t>
            </a:r>
            <a:r>
              <a:rPr lang="zh-TW" altLang="en-US" dirty="0"/>
              <a:t>只累積了</a:t>
            </a:r>
            <a:r>
              <a:rPr lang="en-US" altLang="zh-TW" dirty="0"/>
              <a:t>3000</a:t>
            </a:r>
            <a:r>
              <a:rPr lang="zh-TW" altLang="en-US" dirty="0"/>
              <a:t>個</a:t>
            </a:r>
            <a:r>
              <a:rPr lang="en-US" altLang="zh-TW" dirty="0"/>
              <a:t>Star</a:t>
            </a:r>
            <a:r>
              <a:rPr lang="zh-TW" altLang="en-US" dirty="0"/>
              <a:t>，這件事對</a:t>
            </a:r>
            <a:r>
              <a:rPr lang="en-US" altLang="zh-TW" dirty="0"/>
              <a:t>Google</a:t>
            </a:r>
            <a:r>
              <a:rPr lang="zh-TW" altLang="en-US" dirty="0"/>
              <a:t>來說打擊非常非常具大，怎麼說呢</a:t>
            </a:r>
            <a:r>
              <a:rPr lang="en-US" altLang="zh-TW" dirty="0"/>
              <a:t>?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71D530D5-D445-4158-9960-0F011C8BE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547" y="3026329"/>
            <a:ext cx="4045337" cy="275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493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A28900-D53C-435C-8087-291988158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Google</a:t>
            </a:r>
            <a:r>
              <a:rPr lang="zh-TW" altLang="en-US" dirty="0"/>
              <a:t>工程師共分</a:t>
            </a:r>
            <a:r>
              <a:rPr lang="en-US" altLang="zh-TW" dirty="0"/>
              <a:t>11</a:t>
            </a:r>
            <a:r>
              <a:rPr lang="zh-TW" altLang="en-US" dirty="0"/>
              <a:t>級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8678EC-BCAB-4722-9C22-FED8E7353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1,2,3,</a:t>
            </a:r>
            <a:r>
              <a:rPr lang="zh-TW" altLang="en-US" dirty="0"/>
              <a:t>通常一般員工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5,6</a:t>
            </a:r>
            <a:r>
              <a:rPr lang="zh-TW" altLang="en-US" dirty="0"/>
              <a:t>則是資深工程師代表</a:t>
            </a:r>
            <a:r>
              <a:rPr lang="en-US" altLang="zh-TW" dirty="0"/>
              <a:t>Google </a:t>
            </a:r>
            <a:r>
              <a:rPr lang="zh-TW" altLang="en-US" dirty="0"/>
              <a:t>前</a:t>
            </a:r>
            <a:r>
              <a:rPr lang="en-US" altLang="zh-TW" dirty="0"/>
              <a:t>10%</a:t>
            </a:r>
            <a:r>
              <a:rPr lang="zh-TW" altLang="en-US" dirty="0"/>
              <a:t>菁英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8</a:t>
            </a:r>
            <a:r>
              <a:rPr lang="zh-TW" altLang="en-US" dirty="0"/>
              <a:t>級是首席工程師，</a:t>
            </a:r>
            <a:r>
              <a:rPr lang="en-US" altLang="zh-TW" dirty="0"/>
              <a:t>9</a:t>
            </a:r>
            <a:r>
              <a:rPr lang="zh-TW" altLang="en-US" dirty="0"/>
              <a:t>級是傑出工程師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10</a:t>
            </a:r>
            <a:r>
              <a:rPr lang="zh-TW" altLang="en-US" dirty="0"/>
              <a:t>級是</a:t>
            </a:r>
            <a:r>
              <a:rPr lang="en-US" altLang="zh-TW" dirty="0"/>
              <a:t>Google</a:t>
            </a:r>
            <a:r>
              <a:rPr lang="zh-TW" altLang="en-US" dirty="0"/>
              <a:t>院士一種至高無上的榮譽職務是菁英中的菁英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而</a:t>
            </a:r>
            <a:r>
              <a:rPr lang="en-US" altLang="zh-TW" dirty="0"/>
              <a:t>11</a:t>
            </a:r>
            <a:r>
              <a:rPr lang="zh-TW" altLang="en-US" dirty="0"/>
              <a:t>級則是</a:t>
            </a:r>
            <a:r>
              <a:rPr lang="en-US" altLang="zh-TW" dirty="0"/>
              <a:t>Google</a:t>
            </a:r>
            <a:r>
              <a:rPr lang="zh-TW" altLang="en-US" dirty="0"/>
              <a:t>的工程之神至今只有兩位</a:t>
            </a:r>
            <a:r>
              <a:rPr lang="en-US" altLang="zh-TW" dirty="0"/>
              <a:t>Jeff Dean</a:t>
            </a:r>
            <a:r>
              <a:rPr lang="zh-TW" altLang="en-US" b="1" dirty="0"/>
              <a:t>與 </a:t>
            </a:r>
            <a:r>
              <a:rPr lang="en-US" altLang="zh-TW" dirty="0"/>
              <a:t>Sanjay </a:t>
            </a:r>
          </a:p>
        </p:txBody>
      </p:sp>
    </p:spTree>
    <p:extLst>
      <p:ext uri="{BB962C8B-B14F-4D97-AF65-F5344CB8AC3E}">
        <p14:creationId xmlns:p14="http://schemas.microsoft.com/office/powerpoint/2010/main" val="2688916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0F3E21-E044-4B7A-8225-931AE067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2ED53D-4912-4A5A-AC37-FBBD90C55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而</a:t>
            </a:r>
            <a:r>
              <a:rPr lang="en-US" altLang="zh-TW" dirty="0"/>
              <a:t>Jeff </a:t>
            </a:r>
            <a:r>
              <a:rPr lang="zh-TW" altLang="en-US" dirty="0"/>
              <a:t>與 </a:t>
            </a:r>
            <a:r>
              <a:rPr lang="en-US" altLang="zh-TW" dirty="0"/>
              <a:t>Sanjay </a:t>
            </a:r>
            <a:r>
              <a:rPr lang="zh-TW" altLang="en-US" dirty="0"/>
              <a:t>剛好就是當年那三篇創世紀論文的作者</a:t>
            </a:r>
            <a:endParaRPr lang="en-US" altLang="zh-TW" dirty="0"/>
          </a:p>
          <a:p>
            <a:r>
              <a:rPr lang="zh-TW" altLang="en-US" dirty="0"/>
              <a:t>到此</a:t>
            </a:r>
            <a:r>
              <a:rPr lang="en-US" altLang="zh-TW" dirty="0"/>
              <a:t>Beam</a:t>
            </a:r>
            <a:r>
              <a:rPr lang="zh-TW" altLang="en-US" dirty="0"/>
              <a:t>的狀況已經不是商業務問題</a:t>
            </a:r>
            <a:endParaRPr lang="en-US" altLang="zh-TW" dirty="0"/>
          </a:p>
          <a:p>
            <a:r>
              <a:rPr lang="zh-TW" altLang="en-US" dirty="0"/>
              <a:t>而是</a:t>
            </a:r>
            <a:r>
              <a:rPr lang="en-US" altLang="zh-TW" dirty="0"/>
              <a:t>Google</a:t>
            </a:r>
            <a:r>
              <a:rPr lang="zh-TW" altLang="en-US" dirty="0"/>
              <a:t>自豪地的工程信仰在</a:t>
            </a:r>
            <a:r>
              <a:rPr lang="en-US" altLang="zh-TW" dirty="0"/>
              <a:t>Apache</a:t>
            </a:r>
            <a:r>
              <a:rPr lang="zh-TW" altLang="en-US" dirty="0"/>
              <a:t>面前被毫不留情地徹底碾碎</a:t>
            </a:r>
            <a:endParaRPr lang="en-US" altLang="zh-TW" dirty="0"/>
          </a:p>
          <a:p>
            <a:r>
              <a:rPr lang="zh-TW" altLang="en-US" dirty="0"/>
              <a:t>至此</a:t>
            </a:r>
            <a:r>
              <a:rPr lang="en-US" altLang="zh-TW" dirty="0"/>
              <a:t>Google </a:t>
            </a:r>
            <a:r>
              <a:rPr lang="zh-TW" altLang="en-US" dirty="0"/>
              <a:t>由愛生恨，展開一系列對</a:t>
            </a:r>
            <a:r>
              <a:rPr lang="en-US" altLang="zh-TW" dirty="0"/>
              <a:t>Apache Hadoop</a:t>
            </a:r>
            <a:r>
              <a:rPr lang="zh-TW" altLang="en-US" dirty="0"/>
              <a:t>的打擊計畫</a:t>
            </a:r>
          </a:p>
          <a:p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680742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88BC0-636D-4062-8E31-234ED6DE0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altLang="zh-TW" cap="none" dirty="0"/>
              <a:t>Story Time:  Google</a:t>
            </a:r>
            <a:r>
              <a:rPr lang="zh-TW" altLang="en-US" cap="none" dirty="0"/>
              <a:t>與</a:t>
            </a:r>
            <a:r>
              <a:rPr lang="en-US" altLang="zh-TW" dirty="0"/>
              <a:t>Apache</a:t>
            </a:r>
            <a:r>
              <a:rPr lang="zh-TW" altLang="en-US" cap="none" dirty="0"/>
              <a:t>的恩怨情仇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A33618D-384B-48AA-9DE6-777A7ACE1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 lnSpcReduction="10000"/>
          </a:bodyPr>
          <a:lstStyle/>
          <a:p>
            <a:r>
              <a:rPr lang="zh-TW" altLang="en-US" b="1" dirty="0">
                <a:highlight>
                  <a:srgbClr val="FFFF00"/>
                </a:highlight>
              </a:rPr>
              <a:t>招式一</a:t>
            </a:r>
            <a:r>
              <a:rPr lang="en-US" altLang="zh-TW" b="1" dirty="0">
                <a:highlight>
                  <a:srgbClr val="FFFF00"/>
                </a:highlight>
              </a:rPr>
              <a:t>: </a:t>
            </a:r>
            <a:r>
              <a:rPr lang="zh-TW" altLang="en-US" b="1" dirty="0">
                <a:highlight>
                  <a:srgbClr val="FFFF00"/>
                </a:highlight>
              </a:rPr>
              <a:t>從整體資源管理入手</a:t>
            </a:r>
            <a:r>
              <a:rPr lang="en-US" altLang="zh-TW" b="1" dirty="0">
                <a:highlight>
                  <a:srgbClr val="FFFF00"/>
                </a:highlight>
              </a:rPr>
              <a:t>:</a:t>
            </a:r>
            <a:r>
              <a:rPr lang="zh-TW" altLang="en-US" b="1" dirty="0">
                <a:highlight>
                  <a:srgbClr val="FFFF00"/>
                </a:highlight>
              </a:rPr>
              <a:t>  </a:t>
            </a:r>
            <a:endParaRPr lang="en-US" altLang="zh-TW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zh-TW" dirty="0"/>
              <a:t>AI</a:t>
            </a:r>
            <a:r>
              <a:rPr lang="zh-TW" altLang="en-US" dirty="0"/>
              <a:t>作為公司業務的一部分卻被排除在整體</a:t>
            </a:r>
            <a:r>
              <a:rPr lang="en-US" altLang="zh-TW" dirty="0"/>
              <a:t>IT</a:t>
            </a:r>
            <a:r>
              <a:rPr lang="zh-TW" altLang="en-US" dirty="0"/>
              <a:t>運籌之外，需要另外使用</a:t>
            </a:r>
            <a:r>
              <a:rPr lang="en-US" altLang="zh-TW" dirty="0"/>
              <a:t>Yarn</a:t>
            </a:r>
            <a:r>
              <a:rPr lang="zh-TW" altLang="en-US" dirty="0"/>
              <a:t>進行管理，從</a:t>
            </a:r>
            <a:r>
              <a:rPr lang="en-US" altLang="zh-TW" dirty="0"/>
              <a:t>CTO/DevOps</a:t>
            </a:r>
            <a:r>
              <a:rPr lang="zh-TW" altLang="en-US" dirty="0"/>
              <a:t>角度來看這很不方便，可是</a:t>
            </a:r>
            <a:r>
              <a:rPr lang="en-US" altLang="zh-TW" dirty="0"/>
              <a:t>Apache Yarn</a:t>
            </a:r>
            <a:r>
              <a:rPr lang="zh-TW" altLang="en-US" dirty="0"/>
              <a:t>掌控整個</a:t>
            </a:r>
            <a:r>
              <a:rPr lang="en-US" altLang="zh-TW" dirty="0"/>
              <a:t>Hadoop</a:t>
            </a:r>
            <a:r>
              <a:rPr lang="zh-TW" altLang="en-US" dirty="0"/>
              <a:t>生態系已無法撼動，該怎麼辦呢</a:t>
            </a:r>
            <a:r>
              <a:rPr lang="en-US" altLang="zh-TW" dirty="0"/>
              <a:t>?</a:t>
            </a:r>
            <a:r>
              <a:rPr lang="zh-TW" altLang="en-US" dirty="0"/>
              <a:t>那先全力培植</a:t>
            </a:r>
            <a:r>
              <a:rPr lang="en-US" altLang="zh-TW" dirty="0"/>
              <a:t>K8s</a:t>
            </a:r>
            <a:r>
              <a:rPr lang="zh-TW" altLang="en-US" dirty="0"/>
              <a:t>並成立</a:t>
            </a:r>
            <a:r>
              <a:rPr lang="en-US" altLang="zh-TW" dirty="0"/>
              <a:t>CNCF</a:t>
            </a:r>
            <a:r>
              <a:rPr lang="zh-TW" altLang="en-US" dirty="0"/>
              <a:t>基金會推廣，打擊跟</a:t>
            </a:r>
            <a:r>
              <a:rPr lang="en-US" altLang="zh-TW" dirty="0"/>
              <a:t>Apache Yarn</a:t>
            </a:r>
            <a:r>
              <a:rPr lang="zh-TW" altLang="en-US" dirty="0"/>
              <a:t>廝殺多年，與</a:t>
            </a:r>
            <a:r>
              <a:rPr lang="en-US" altLang="zh-TW" dirty="0"/>
              <a:t>K8s</a:t>
            </a:r>
            <a:r>
              <a:rPr lang="zh-TW" altLang="en-US" dirty="0"/>
              <a:t>同樣可以用於</a:t>
            </a:r>
            <a:r>
              <a:rPr lang="en-US" altLang="zh-TW" dirty="0"/>
              <a:t>Microservices</a:t>
            </a:r>
            <a:r>
              <a:rPr lang="zh-TW" altLang="en-US" dirty="0"/>
              <a:t>的</a:t>
            </a:r>
            <a:r>
              <a:rPr lang="en-US" altLang="zh-TW" dirty="0"/>
              <a:t>Apache Mesos</a:t>
            </a:r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1.Twitter</a:t>
            </a:r>
            <a:r>
              <a:rPr lang="zh-TW" altLang="en-US" dirty="0"/>
              <a:t>放棄</a:t>
            </a:r>
            <a:r>
              <a:rPr lang="en-US" altLang="zh-TW" dirty="0"/>
              <a:t>Mesos</a:t>
            </a:r>
            <a:r>
              <a:rPr lang="zh-TW" altLang="en-US" dirty="0"/>
              <a:t>轉向</a:t>
            </a:r>
            <a:r>
              <a:rPr lang="en-US" altLang="zh-TW" dirty="0"/>
              <a:t>K8s</a:t>
            </a:r>
          </a:p>
          <a:p>
            <a:pPr marL="0" indent="0">
              <a:buNone/>
            </a:pPr>
            <a:r>
              <a:rPr lang="en-US" altLang="zh-TW" dirty="0"/>
              <a:t>2.Mesosphere </a:t>
            </a:r>
            <a:r>
              <a:rPr lang="zh-TW" altLang="en-US" dirty="0"/>
              <a:t>近日宣佈正式更名為 </a:t>
            </a:r>
            <a:r>
              <a:rPr lang="en-US" altLang="zh-TW" dirty="0"/>
              <a:t>D2IQ</a:t>
            </a:r>
            <a:r>
              <a:rPr lang="zh-TW" altLang="en-US" dirty="0"/>
              <a:t>，關注點也隨即轉向 </a:t>
            </a:r>
            <a:r>
              <a:rPr lang="en-US" altLang="zh-TW" dirty="0"/>
              <a:t>Kubernetes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01776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321937-AE56-4A58-BDBF-D477A17E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/>
              <a:t>Story Time:  Google</a:t>
            </a:r>
            <a:r>
              <a:rPr lang="zh-TW" altLang="en-US" cap="none" dirty="0"/>
              <a:t>與</a:t>
            </a:r>
            <a:r>
              <a:rPr lang="en-US" altLang="zh-TW" dirty="0"/>
              <a:t>Apache</a:t>
            </a:r>
            <a:r>
              <a:rPr lang="zh-TW" altLang="en-US" cap="none" dirty="0"/>
              <a:t>的恩怨情仇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6D5A86-D381-404B-89A4-F7244B3ED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853754"/>
            <a:ext cx="9603275" cy="3450613"/>
          </a:xfrm>
        </p:spPr>
        <p:txBody>
          <a:bodyPr/>
          <a:lstStyle/>
          <a:p>
            <a:r>
              <a:rPr lang="zh-TW" altLang="en-US" b="1" dirty="0">
                <a:highlight>
                  <a:srgbClr val="FFFF00"/>
                </a:highlight>
              </a:rPr>
              <a:t>招式二</a:t>
            </a:r>
            <a:r>
              <a:rPr lang="en-US" altLang="zh-TW" b="1" dirty="0">
                <a:highlight>
                  <a:srgbClr val="FFFF00"/>
                </a:highlight>
              </a:rPr>
              <a:t>:</a:t>
            </a:r>
            <a:r>
              <a:rPr lang="zh-TW" altLang="en-US" b="1" dirty="0">
                <a:highlight>
                  <a:srgbClr val="FFFF00"/>
                </a:highlight>
              </a:rPr>
              <a:t>從</a:t>
            </a:r>
            <a:r>
              <a:rPr lang="en-US" altLang="zh-TW" b="1" dirty="0">
                <a:highlight>
                  <a:srgbClr val="FFFF00"/>
                </a:highlight>
              </a:rPr>
              <a:t>AL</a:t>
            </a:r>
            <a:r>
              <a:rPr lang="zh-TW" altLang="en-US" b="1" dirty="0">
                <a:highlight>
                  <a:srgbClr val="FFFF00"/>
                </a:highlight>
              </a:rPr>
              <a:t>著手</a:t>
            </a:r>
            <a:endParaRPr lang="en-US" altLang="zh-TW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zh-TW" altLang="en-US" dirty="0"/>
              <a:t>從</a:t>
            </a:r>
            <a:r>
              <a:rPr lang="en-US" altLang="zh-TW" dirty="0"/>
              <a:t>AL</a:t>
            </a:r>
            <a:r>
              <a:rPr lang="zh-TW" altLang="en-US" dirty="0"/>
              <a:t>著手</a:t>
            </a:r>
            <a:r>
              <a:rPr lang="en-US" altLang="zh-TW" dirty="0"/>
              <a:t>:</a:t>
            </a:r>
            <a:r>
              <a:rPr lang="zh-TW" altLang="en-US" dirty="0"/>
              <a:t> 開源</a:t>
            </a:r>
            <a:r>
              <a:rPr lang="en-US" altLang="zh-TW" dirty="0"/>
              <a:t>DL, ML </a:t>
            </a:r>
            <a:r>
              <a:rPr lang="zh-TW" altLang="en-US" dirty="0"/>
              <a:t>框架</a:t>
            </a:r>
            <a:r>
              <a:rPr lang="en-US" altLang="zh-TW" dirty="0"/>
              <a:t>TensorFlow</a:t>
            </a:r>
            <a:r>
              <a:rPr lang="zh-TW" altLang="en-US" dirty="0"/>
              <a:t>，侵蝕</a:t>
            </a:r>
            <a:r>
              <a:rPr lang="en-US" altLang="zh-TW" dirty="0"/>
              <a:t>Apache Spark</a:t>
            </a:r>
            <a:r>
              <a:rPr lang="zh-TW" altLang="en-US" dirty="0"/>
              <a:t>的</a:t>
            </a:r>
            <a:r>
              <a:rPr lang="en-US" altLang="zh-TW" dirty="0"/>
              <a:t>AI</a:t>
            </a:r>
            <a:r>
              <a:rPr lang="zh-TW" altLang="en-US" dirty="0"/>
              <a:t>業務</a:t>
            </a:r>
            <a:endParaRPr lang="en-US" altLang="zh-TW" dirty="0"/>
          </a:p>
          <a:p>
            <a:r>
              <a:rPr lang="zh-TW" altLang="en-US" b="1" dirty="0"/>
              <a:t>招式三</a:t>
            </a:r>
            <a:r>
              <a:rPr lang="en-US" altLang="zh-TW" b="1" dirty="0"/>
              <a:t>:</a:t>
            </a:r>
            <a:r>
              <a:rPr lang="zh-TW" altLang="en-US" b="1" dirty="0"/>
              <a:t>從</a:t>
            </a:r>
            <a:r>
              <a:rPr lang="en-US" altLang="zh-TW" b="1" dirty="0"/>
              <a:t>Data Source</a:t>
            </a:r>
            <a:r>
              <a:rPr lang="zh-TW" altLang="en-US" b="1" dirty="0"/>
              <a:t>入手</a:t>
            </a:r>
            <a:endParaRPr lang="en-US" altLang="zh-TW" b="1" dirty="0"/>
          </a:p>
          <a:p>
            <a:pPr marL="0" indent="0">
              <a:buNone/>
            </a:pPr>
            <a:r>
              <a:rPr lang="zh-TW" altLang="en-US" dirty="0"/>
              <a:t>從</a:t>
            </a:r>
            <a:r>
              <a:rPr lang="en-US" altLang="zh-TW" dirty="0"/>
              <a:t>DB</a:t>
            </a:r>
            <a:r>
              <a:rPr lang="zh-TW" altLang="en-US" dirty="0"/>
              <a:t>與</a:t>
            </a:r>
            <a:r>
              <a:rPr lang="en-US" altLang="zh-TW" dirty="0"/>
              <a:t>MQ</a:t>
            </a:r>
            <a:r>
              <a:rPr lang="zh-TW" altLang="en-US" dirty="0"/>
              <a:t>著手，</a:t>
            </a:r>
            <a:r>
              <a:rPr lang="en-US" altLang="zh-TW" dirty="0"/>
              <a:t>Apache HDFS</a:t>
            </a:r>
            <a:r>
              <a:rPr lang="zh-TW" altLang="en-US" dirty="0"/>
              <a:t> 雖然堅不可摧，拉攏</a:t>
            </a:r>
            <a:r>
              <a:rPr lang="en-US" altLang="zh-TW" dirty="0"/>
              <a:t>MongoDB(Document)</a:t>
            </a:r>
            <a:r>
              <a:rPr lang="zh-TW" altLang="en-US" dirty="0"/>
              <a:t>，</a:t>
            </a:r>
            <a:r>
              <a:rPr lang="en-US" altLang="zh-TW" dirty="0"/>
              <a:t>Redis(Cache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Key Value)</a:t>
            </a:r>
            <a:r>
              <a:rPr lang="zh-TW" altLang="en-US" dirty="0"/>
              <a:t>，再配合</a:t>
            </a:r>
            <a:r>
              <a:rPr lang="en-US" altLang="zh-TW" dirty="0"/>
              <a:t>K8s support Huge Pages </a:t>
            </a:r>
            <a:r>
              <a:rPr lang="zh-TW" altLang="en-US" dirty="0"/>
              <a:t>拉攏</a:t>
            </a:r>
            <a:r>
              <a:rPr lang="en-US" altLang="zh-TW" dirty="0"/>
              <a:t>SQL DB</a:t>
            </a:r>
            <a:r>
              <a:rPr lang="zh-TW" altLang="en-US" dirty="0"/>
              <a:t>，還有拉攏擅長搜尋技術</a:t>
            </a:r>
            <a:r>
              <a:rPr lang="en-US" altLang="zh-TW" dirty="0"/>
              <a:t>Elasticsearch, </a:t>
            </a:r>
            <a:r>
              <a:rPr lang="zh-TW" altLang="en-US" dirty="0"/>
              <a:t>擅長圖像儲存</a:t>
            </a:r>
            <a:r>
              <a:rPr lang="en-US" altLang="zh-TW" dirty="0"/>
              <a:t>neo4j, </a:t>
            </a:r>
            <a:r>
              <a:rPr lang="zh-TW" altLang="en-US" dirty="0"/>
              <a:t>還有</a:t>
            </a:r>
            <a:r>
              <a:rPr lang="zh-TW" altLang="en-US" b="1" dirty="0">
                <a:solidFill>
                  <a:srgbClr val="FF0000"/>
                </a:solidFill>
              </a:rPr>
              <a:t>最近超紅的</a:t>
            </a:r>
            <a:r>
              <a:rPr lang="en-US" altLang="zh-TW" b="1" dirty="0">
                <a:solidFill>
                  <a:srgbClr val="FF0000"/>
                </a:solidFill>
              </a:rPr>
              <a:t>Apache Kafka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4628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321937-AE56-4A58-BDBF-D477A17E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/>
              <a:t>Story Time:  Google</a:t>
            </a:r>
            <a:r>
              <a:rPr lang="zh-TW" altLang="en-US" cap="none" dirty="0"/>
              <a:t>與</a:t>
            </a:r>
            <a:r>
              <a:rPr lang="en-US" altLang="zh-TW" dirty="0"/>
              <a:t>Apache</a:t>
            </a:r>
            <a:r>
              <a:rPr lang="zh-TW" altLang="en-US" cap="none" dirty="0"/>
              <a:t>的恩怨情仇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6D5A86-D381-404B-89A4-F7244B3ED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1853754"/>
            <a:ext cx="9603275" cy="3450613"/>
          </a:xfrm>
        </p:spPr>
        <p:txBody>
          <a:bodyPr/>
          <a:lstStyle/>
          <a:p>
            <a:r>
              <a:rPr lang="zh-TW" altLang="en-US" b="1" dirty="0"/>
              <a:t>招式二</a:t>
            </a:r>
            <a:r>
              <a:rPr lang="en-US" altLang="zh-TW" b="1" dirty="0"/>
              <a:t>:</a:t>
            </a:r>
            <a:r>
              <a:rPr lang="zh-TW" altLang="en-US" b="1" dirty="0"/>
              <a:t>從</a:t>
            </a:r>
            <a:r>
              <a:rPr lang="en-US" altLang="zh-TW" b="1" dirty="0"/>
              <a:t>AL</a:t>
            </a:r>
            <a:r>
              <a:rPr lang="zh-TW" altLang="en-US" b="1" dirty="0"/>
              <a:t>著手</a:t>
            </a:r>
            <a:endParaRPr lang="en-US" altLang="zh-TW" b="1" dirty="0"/>
          </a:p>
          <a:p>
            <a:pPr marL="0" indent="0">
              <a:buNone/>
            </a:pPr>
            <a:r>
              <a:rPr lang="zh-TW" altLang="en-US" dirty="0"/>
              <a:t>從</a:t>
            </a:r>
            <a:r>
              <a:rPr lang="en-US" altLang="zh-TW" dirty="0"/>
              <a:t>AL</a:t>
            </a:r>
            <a:r>
              <a:rPr lang="zh-TW" altLang="en-US" dirty="0"/>
              <a:t>著手</a:t>
            </a:r>
            <a:r>
              <a:rPr lang="en-US" altLang="zh-TW" dirty="0"/>
              <a:t>:</a:t>
            </a:r>
            <a:r>
              <a:rPr lang="zh-TW" altLang="en-US" dirty="0"/>
              <a:t> 開源</a:t>
            </a:r>
            <a:r>
              <a:rPr lang="en-US" altLang="zh-TW" dirty="0"/>
              <a:t>DL, ML </a:t>
            </a:r>
            <a:r>
              <a:rPr lang="zh-TW" altLang="en-US" dirty="0"/>
              <a:t>框架</a:t>
            </a:r>
            <a:r>
              <a:rPr lang="en-US" altLang="zh-TW" dirty="0"/>
              <a:t>TensorFlow</a:t>
            </a:r>
            <a:r>
              <a:rPr lang="zh-TW" altLang="en-US" dirty="0"/>
              <a:t>，侵蝕</a:t>
            </a:r>
            <a:r>
              <a:rPr lang="en-US" altLang="zh-TW" dirty="0"/>
              <a:t>Apache Spark</a:t>
            </a:r>
            <a:r>
              <a:rPr lang="zh-TW" altLang="en-US" dirty="0"/>
              <a:t>的</a:t>
            </a:r>
            <a:r>
              <a:rPr lang="en-US" altLang="zh-TW" dirty="0"/>
              <a:t>AI</a:t>
            </a:r>
            <a:r>
              <a:rPr lang="zh-TW" altLang="en-US" dirty="0"/>
              <a:t>業務，像</a:t>
            </a:r>
            <a:r>
              <a:rPr lang="en-US" altLang="zh-TW" dirty="0"/>
              <a:t>Google</a:t>
            </a:r>
            <a:r>
              <a:rPr lang="zh-TW" altLang="en-US" dirty="0"/>
              <a:t>內部</a:t>
            </a:r>
            <a:r>
              <a:rPr lang="en-US" altLang="zh-TW" dirty="0"/>
              <a:t>AI</a:t>
            </a:r>
            <a:r>
              <a:rPr lang="zh-TW" altLang="en-US" dirty="0"/>
              <a:t>最高指揮單位</a:t>
            </a:r>
            <a:r>
              <a:rPr lang="en-US" altLang="zh-TW" dirty="0"/>
              <a:t>Google Brain</a:t>
            </a:r>
            <a:r>
              <a:rPr lang="zh-TW" altLang="en-US" dirty="0"/>
              <a:t>的領導人就是</a:t>
            </a:r>
            <a:r>
              <a:rPr lang="en-US" altLang="zh-TW" dirty="0"/>
              <a:t>Jeff Dean</a:t>
            </a:r>
          </a:p>
          <a:p>
            <a:r>
              <a:rPr lang="zh-TW" altLang="en-US" b="1" dirty="0">
                <a:highlight>
                  <a:srgbClr val="FFFF00"/>
                </a:highlight>
              </a:rPr>
              <a:t>招式三</a:t>
            </a:r>
            <a:r>
              <a:rPr lang="en-US" altLang="zh-TW" b="1" dirty="0">
                <a:highlight>
                  <a:srgbClr val="FFFF00"/>
                </a:highlight>
              </a:rPr>
              <a:t>:</a:t>
            </a:r>
            <a:r>
              <a:rPr lang="zh-TW" altLang="en-US" b="1" dirty="0">
                <a:highlight>
                  <a:srgbClr val="FFFF00"/>
                </a:highlight>
              </a:rPr>
              <a:t>從</a:t>
            </a:r>
            <a:r>
              <a:rPr lang="en-US" altLang="zh-TW" b="1" dirty="0">
                <a:highlight>
                  <a:srgbClr val="FFFF00"/>
                </a:highlight>
              </a:rPr>
              <a:t>Data Source</a:t>
            </a:r>
            <a:r>
              <a:rPr lang="zh-TW" altLang="en-US" b="1" dirty="0">
                <a:highlight>
                  <a:srgbClr val="FFFF00"/>
                </a:highlight>
              </a:rPr>
              <a:t>入手</a:t>
            </a:r>
            <a:endParaRPr lang="en-US" altLang="zh-TW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zh-TW" altLang="en-US" dirty="0"/>
              <a:t>從</a:t>
            </a:r>
            <a:r>
              <a:rPr lang="en-US" altLang="zh-TW" dirty="0"/>
              <a:t>DB</a:t>
            </a:r>
            <a:r>
              <a:rPr lang="zh-TW" altLang="en-US" dirty="0"/>
              <a:t>與</a:t>
            </a:r>
            <a:r>
              <a:rPr lang="en-US" altLang="zh-TW" dirty="0"/>
              <a:t>MQ</a:t>
            </a:r>
            <a:r>
              <a:rPr lang="zh-TW" altLang="en-US" dirty="0"/>
              <a:t>著手，</a:t>
            </a:r>
            <a:r>
              <a:rPr lang="en-US" altLang="zh-TW" dirty="0"/>
              <a:t>Apache HDFS</a:t>
            </a:r>
            <a:r>
              <a:rPr lang="zh-TW" altLang="en-US" dirty="0"/>
              <a:t> 與</a:t>
            </a:r>
            <a:r>
              <a:rPr lang="en-US" altLang="zh-TW" dirty="0"/>
              <a:t>Apache HBase</a:t>
            </a:r>
            <a:r>
              <a:rPr lang="zh-TW" altLang="en-US" dirty="0"/>
              <a:t>雖然堅不可摧，但可以鄉村包圍城市拉攏</a:t>
            </a:r>
            <a:r>
              <a:rPr lang="en-US" altLang="zh-TW" dirty="0"/>
              <a:t>MongoDB(Document)</a:t>
            </a:r>
            <a:r>
              <a:rPr lang="zh-TW" altLang="en-US" dirty="0"/>
              <a:t>，</a:t>
            </a:r>
            <a:r>
              <a:rPr lang="en-US" altLang="zh-TW" dirty="0"/>
              <a:t>Redis(Cache</a:t>
            </a:r>
            <a:r>
              <a:rPr lang="zh-TW" altLang="en-US" dirty="0"/>
              <a:t> </a:t>
            </a:r>
            <a:r>
              <a:rPr lang="en-US" altLang="zh-TW" dirty="0"/>
              <a:t>&amp;</a:t>
            </a:r>
            <a:r>
              <a:rPr lang="zh-TW" altLang="en-US" dirty="0"/>
              <a:t> </a:t>
            </a:r>
            <a:r>
              <a:rPr lang="en-US" altLang="zh-TW" dirty="0"/>
              <a:t>Key Value)</a:t>
            </a:r>
            <a:r>
              <a:rPr lang="zh-TW" altLang="en-US" dirty="0"/>
              <a:t>，還有拉攏擅長搜尋技術</a:t>
            </a:r>
            <a:r>
              <a:rPr lang="en-US" altLang="zh-TW" dirty="0"/>
              <a:t>Elasticsearch,, </a:t>
            </a:r>
            <a:r>
              <a:rPr lang="zh-TW" altLang="en-US" dirty="0"/>
              <a:t>還有</a:t>
            </a:r>
            <a:r>
              <a:rPr lang="zh-TW" altLang="en-US" dirty="0">
                <a:solidFill>
                  <a:srgbClr val="FF0000"/>
                </a:solidFill>
              </a:rPr>
              <a:t>最近超紅的</a:t>
            </a:r>
            <a:r>
              <a:rPr lang="en-US" altLang="zh-TW" dirty="0">
                <a:solidFill>
                  <a:srgbClr val="FF0000"/>
                </a:solidFill>
              </a:rPr>
              <a:t>Apache Kafka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8938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D47205-9FB1-43E1-8197-ADC210121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cap="none" dirty="0"/>
              <a:t>Story Time:  Google</a:t>
            </a:r>
            <a:r>
              <a:rPr lang="zh-TW" altLang="en-US" cap="none" dirty="0"/>
              <a:t>與</a:t>
            </a:r>
            <a:r>
              <a:rPr lang="en-US" altLang="zh-TW" dirty="0"/>
              <a:t>Apache</a:t>
            </a:r>
            <a:r>
              <a:rPr lang="zh-TW" altLang="en-US" cap="none" dirty="0"/>
              <a:t>的恩怨情仇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94CFA40-42A8-44A4-895C-0D6CFAA0D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053" y="2405334"/>
            <a:ext cx="3723688" cy="3559407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D50A713-6529-464A-847A-52E70DC11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216" y="2754799"/>
            <a:ext cx="4576761" cy="286047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1CD4ADF-622F-49B8-81BE-884C28483277}"/>
              </a:ext>
            </a:extLst>
          </p:cNvPr>
          <p:cNvSpPr/>
          <p:nvPr/>
        </p:nvSpPr>
        <p:spPr>
          <a:xfrm>
            <a:off x="3056389" y="1944878"/>
            <a:ext cx="79080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有了</a:t>
            </a:r>
            <a:r>
              <a:rPr lang="en-US" altLang="zh-TW" dirty="0"/>
              <a:t>TensorFlow/</a:t>
            </a:r>
            <a:r>
              <a:rPr lang="zh-TW" altLang="en-US" dirty="0"/>
              <a:t> </a:t>
            </a:r>
            <a:r>
              <a:rPr lang="en-US" altLang="zh-TW" dirty="0"/>
              <a:t>K8s/ Open Source</a:t>
            </a:r>
            <a:r>
              <a:rPr lang="zh-TW" altLang="en-US" dirty="0"/>
              <a:t> </a:t>
            </a:r>
            <a:r>
              <a:rPr lang="en-US" altLang="zh-TW" dirty="0"/>
              <a:t>paneer</a:t>
            </a:r>
            <a:r>
              <a:rPr lang="zh-TW" altLang="en-US" dirty="0"/>
              <a:t>這三支箭</a:t>
            </a:r>
            <a:r>
              <a:rPr lang="en-US" altLang="zh-TW" dirty="0"/>
              <a:t> </a:t>
            </a:r>
            <a:r>
              <a:rPr lang="zh-TW" altLang="en-US" dirty="0"/>
              <a:t>，這次我一定會打敗你</a:t>
            </a:r>
          </a:p>
        </p:txBody>
      </p:sp>
    </p:spTree>
    <p:extLst>
      <p:ext uri="{BB962C8B-B14F-4D97-AF65-F5344CB8AC3E}">
        <p14:creationId xmlns:p14="http://schemas.microsoft.com/office/powerpoint/2010/main" val="279840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2EDA8F-DCCC-4AA9-A2A8-C45B5D10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pPr marL="457200" indent="-457200"/>
            <a:r>
              <a:rPr lang="en-US" altLang="zh-TW" dirty="0"/>
              <a:t>CNI</a:t>
            </a:r>
            <a:r>
              <a:rPr lang="zh-TW" altLang="en-US" dirty="0"/>
              <a:t>與提升</a:t>
            </a:r>
            <a:r>
              <a:rPr lang="en-US" altLang="zh-TW" dirty="0"/>
              <a:t>Spark</a:t>
            </a:r>
            <a:r>
              <a:rPr lang="zh-TW" altLang="en-US" dirty="0"/>
              <a:t>效能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1E5F3E-DAE1-46B4-9CFA-CC0CEA347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Docker network</a:t>
            </a:r>
          </a:p>
          <a:p>
            <a:r>
              <a:rPr lang="en-US" altLang="zh-TW" dirty="0"/>
              <a:t>Flannel (default)</a:t>
            </a:r>
          </a:p>
          <a:p>
            <a:r>
              <a:rPr lang="en-US" altLang="zh-TW" dirty="0"/>
              <a:t>Calico</a:t>
            </a:r>
          </a:p>
          <a:p>
            <a:pPr marL="0" indent="0">
              <a:buNone/>
            </a:pPr>
            <a:r>
              <a:rPr lang="zh-TW" altLang="en-US" dirty="0"/>
              <a:t>對於分散式運算來說網路是非常影響效能的關鍵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0745352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9D7DF7-F3CD-471D-96B9-289706AEA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altLang="zh-TW" dirty="0"/>
              <a:t>Docker Network</a:t>
            </a:r>
            <a:br>
              <a:rPr lang="en-US" altLang="zh-TW" dirty="0"/>
            </a:b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1AE43133-4D9D-420C-913A-71F464E41A28}"/>
              </a:ext>
            </a:extLst>
          </p:cNvPr>
          <p:cNvGrpSpPr/>
          <p:nvPr/>
        </p:nvGrpSpPr>
        <p:grpSpPr>
          <a:xfrm>
            <a:off x="3530958" y="2165780"/>
            <a:ext cx="5287617" cy="3030027"/>
            <a:chOff x="3530958" y="2165780"/>
            <a:chExt cx="5287617" cy="3030027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09D033B5-093A-467E-B12D-D1F0316DE1CE}"/>
                </a:ext>
              </a:extLst>
            </p:cNvPr>
            <p:cNvGrpSpPr/>
            <p:nvPr/>
          </p:nvGrpSpPr>
          <p:grpSpPr>
            <a:xfrm>
              <a:off x="3530958" y="2165780"/>
              <a:ext cx="5287617" cy="3030027"/>
              <a:chOff x="1825720" y="2114374"/>
              <a:chExt cx="8540560" cy="376959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6B9E8C9-E08B-44FF-B674-EC4FAC7BADCB}"/>
                  </a:ext>
                </a:extLst>
              </p:cNvPr>
              <p:cNvSpPr/>
              <p:nvPr/>
            </p:nvSpPr>
            <p:spPr>
              <a:xfrm>
                <a:off x="1825720" y="2151928"/>
                <a:ext cx="8540560" cy="3732036"/>
              </a:xfrm>
              <a:prstGeom prst="rect">
                <a:avLst/>
              </a:prstGeom>
              <a:solidFill>
                <a:srgbClr val="0070C0"/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A9F4BAB-AD5C-4D0B-99A2-3C3FE1CAAE0F}"/>
                  </a:ext>
                </a:extLst>
              </p:cNvPr>
              <p:cNvSpPr/>
              <p:nvPr/>
            </p:nvSpPr>
            <p:spPr>
              <a:xfrm>
                <a:off x="2176916" y="2663495"/>
                <a:ext cx="3554650" cy="150743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/>
                  <a:t>Docker1-Spark1Executor</a:t>
                </a:r>
              </a:p>
              <a:p>
                <a:pPr algn="ctr"/>
                <a:r>
                  <a:rPr lang="en-US" altLang="zh-TW" sz="1600" dirty="0"/>
                  <a:t>172.17.0.2 </a:t>
                </a:r>
                <a:endParaRPr lang="zh-TW" altLang="en-US" sz="1600" dirty="0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4ACB12B-D1B5-49FC-8FED-A1FF978FD1FE}"/>
                  </a:ext>
                </a:extLst>
              </p:cNvPr>
              <p:cNvSpPr/>
              <p:nvPr/>
            </p:nvSpPr>
            <p:spPr>
              <a:xfrm>
                <a:off x="2196782" y="4790660"/>
                <a:ext cx="7912620" cy="43732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/>
                  <a:t>Docker0</a:t>
                </a:r>
                <a:r>
                  <a:rPr lang="zh-TW" altLang="en-US" sz="1600" dirty="0"/>
                  <a:t> </a:t>
                </a:r>
                <a:r>
                  <a:rPr lang="en-US" altLang="zh-TW" sz="1600" dirty="0"/>
                  <a:t>Bridge</a:t>
                </a:r>
                <a:r>
                  <a:rPr lang="zh-TW" altLang="en-US" sz="1600" dirty="0"/>
                  <a:t> </a:t>
                </a:r>
                <a:r>
                  <a:rPr lang="en-US" altLang="zh-TW" sz="1600" dirty="0"/>
                  <a:t>172.17.0.0/16</a:t>
                </a:r>
                <a:r>
                  <a:rPr lang="zh-TW" altLang="en-US" sz="1600" dirty="0"/>
                  <a:t> </a:t>
                </a:r>
                <a:r>
                  <a:rPr lang="en-US" altLang="zh-TW" sz="1600" dirty="0"/>
                  <a:t>255.255.0.0</a:t>
                </a:r>
                <a:endParaRPr lang="zh-TW" altLang="en-US" sz="1600" dirty="0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7C8CCA67-40F0-4CB1-8FB2-8BCD2F07656E}"/>
                  </a:ext>
                </a:extLst>
              </p:cNvPr>
              <p:cNvSpPr/>
              <p:nvPr/>
            </p:nvSpPr>
            <p:spPr>
              <a:xfrm>
                <a:off x="3373205" y="4436034"/>
                <a:ext cx="1162067" cy="337931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/>
                  <a:t>veth</a:t>
                </a:r>
                <a:endParaRPr lang="zh-TW" altLang="en-US" sz="1600" dirty="0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39D9E38-1196-4E5D-9027-AD2DA1C090F9}"/>
                  </a:ext>
                </a:extLst>
              </p:cNvPr>
              <p:cNvSpPr/>
              <p:nvPr/>
            </p:nvSpPr>
            <p:spPr>
              <a:xfrm>
                <a:off x="3373206" y="3856187"/>
                <a:ext cx="1162067" cy="337931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/>
                  <a:t>eth0</a:t>
                </a:r>
                <a:endParaRPr lang="zh-TW" altLang="en-US" sz="1600" dirty="0"/>
              </a:p>
            </p:txBody>
          </p: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id="{5597F474-7E89-46B7-B818-504E541D16F2}"/>
                  </a:ext>
                </a:extLst>
              </p:cNvPr>
              <p:cNvCxnSpPr>
                <a:cxnSpLocks/>
                <a:stCxn id="11" idx="2"/>
                <a:endCxn id="10" idx="0"/>
              </p:cNvCxnSpPr>
              <p:nvPr/>
            </p:nvCxnSpPr>
            <p:spPr>
              <a:xfrm flipH="1">
                <a:off x="3954239" y="4194118"/>
                <a:ext cx="2" cy="241916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3BF8186-77FB-4FDD-B9A0-B86CEF408C7C}"/>
                  </a:ext>
                </a:extLst>
              </p:cNvPr>
              <p:cNvSpPr/>
              <p:nvPr/>
            </p:nvSpPr>
            <p:spPr>
              <a:xfrm>
                <a:off x="5468563" y="5526156"/>
                <a:ext cx="1254874" cy="35780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/>
                  <a:t>eth0</a:t>
                </a:r>
                <a:endParaRPr lang="zh-TW" altLang="en-US" sz="1600" dirty="0"/>
              </a:p>
            </p:txBody>
          </p:sp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2A05F3C6-29B5-4453-8E73-3645FC6600B0}"/>
                  </a:ext>
                </a:extLst>
              </p:cNvPr>
              <p:cNvSpPr txBox="1"/>
              <p:nvPr/>
            </p:nvSpPr>
            <p:spPr>
              <a:xfrm>
                <a:off x="5468563" y="2114374"/>
                <a:ext cx="32732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dirty="0">
                    <a:solidFill>
                      <a:schemeClr val="bg1"/>
                    </a:solidFill>
                  </a:rPr>
                  <a:t>Node</a:t>
                </a:r>
                <a:endParaRPr lang="zh-TW" altLang="en-US" sz="24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4477FC54-5698-473F-9A28-2BE22F7F99EC}"/>
                </a:ext>
              </a:extLst>
            </p:cNvPr>
            <p:cNvSpPr/>
            <p:nvPr/>
          </p:nvSpPr>
          <p:spPr>
            <a:xfrm>
              <a:off x="6458788" y="2613878"/>
              <a:ext cx="2200749" cy="1211687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Docker2-Spark1Executor</a:t>
              </a:r>
            </a:p>
            <a:p>
              <a:pPr algn="ctr"/>
              <a:r>
                <a:rPr lang="en-US" altLang="zh-TW" sz="1600" dirty="0"/>
                <a:t>172.17.0.3 </a:t>
              </a:r>
              <a:endParaRPr lang="zh-TW" altLang="en-US" sz="1600" dirty="0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79D63D50-42F9-4467-AF1B-533875208A0F}"/>
                </a:ext>
              </a:extLst>
            </p:cNvPr>
            <p:cNvSpPr/>
            <p:nvPr/>
          </p:nvSpPr>
          <p:spPr>
            <a:xfrm>
              <a:off x="7199432" y="4038659"/>
              <a:ext cx="719457" cy="271632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veth</a:t>
              </a:r>
              <a:endParaRPr lang="zh-TW" altLang="en-US" sz="1600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16F5F3A-379B-4E79-920D-0E6DF139D6B3}"/>
                </a:ext>
              </a:extLst>
            </p:cNvPr>
            <p:cNvSpPr/>
            <p:nvPr/>
          </p:nvSpPr>
          <p:spPr>
            <a:xfrm>
              <a:off x="7199433" y="3572573"/>
              <a:ext cx="719457" cy="271632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eth0</a:t>
              </a:r>
              <a:endParaRPr lang="zh-TW" altLang="en-US" sz="1600" dirty="0"/>
            </a:p>
          </p:txBody>
        </p: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A5270A57-159E-40F3-9666-328CF4520461}"/>
                </a:ext>
              </a:extLst>
            </p:cNvPr>
            <p:cNvCxnSpPr>
              <a:cxnSpLocks/>
              <a:stCxn id="47" idx="2"/>
              <a:endCxn id="46" idx="0"/>
            </p:cNvCxnSpPr>
            <p:nvPr/>
          </p:nvCxnSpPr>
          <p:spPr>
            <a:xfrm flipH="1">
              <a:off x="7559161" y="3844205"/>
              <a:ext cx="1" cy="194454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7656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9D7DF7-F3CD-471D-96B9-289706AE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Docker Network</a:t>
            </a:r>
            <a:br>
              <a:rPr lang="en-US" altLang="zh-TW" dirty="0"/>
            </a:br>
            <a:endParaRPr lang="zh-TW" altLang="en-US" dirty="0"/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09D033B5-093A-467E-B12D-D1F0316DE1CE}"/>
              </a:ext>
            </a:extLst>
          </p:cNvPr>
          <p:cNvGrpSpPr/>
          <p:nvPr/>
        </p:nvGrpSpPr>
        <p:grpSpPr>
          <a:xfrm>
            <a:off x="482958" y="2143161"/>
            <a:ext cx="5287617" cy="3031625"/>
            <a:chOff x="1825720" y="2112386"/>
            <a:chExt cx="8540560" cy="377157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6B9E8C9-E08B-44FF-B674-EC4FAC7BADCB}"/>
                </a:ext>
              </a:extLst>
            </p:cNvPr>
            <p:cNvSpPr/>
            <p:nvPr/>
          </p:nvSpPr>
          <p:spPr>
            <a:xfrm>
              <a:off x="1825720" y="2151928"/>
              <a:ext cx="8540560" cy="3732036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1600" dirty="0">
                <a:solidFill>
                  <a:schemeClr val="bg1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A9F4BAB-AD5C-4D0B-99A2-3C3FE1CAAE0F}"/>
                </a:ext>
              </a:extLst>
            </p:cNvPr>
            <p:cNvSpPr/>
            <p:nvPr/>
          </p:nvSpPr>
          <p:spPr>
            <a:xfrm>
              <a:off x="2176916" y="2663495"/>
              <a:ext cx="3554650" cy="150743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Docker1-BackendServer</a:t>
              </a:r>
            </a:p>
            <a:p>
              <a:pPr algn="ctr"/>
              <a:r>
                <a:rPr lang="en-US" altLang="zh-TW" sz="1600" dirty="0"/>
                <a:t>172.17.0.2 </a:t>
              </a:r>
              <a:endParaRPr lang="zh-TW" altLang="en-US" sz="1600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4ACB12B-D1B5-49FC-8FED-A1FF978FD1FE}"/>
                </a:ext>
              </a:extLst>
            </p:cNvPr>
            <p:cNvSpPr/>
            <p:nvPr/>
          </p:nvSpPr>
          <p:spPr>
            <a:xfrm>
              <a:off x="2196782" y="4790660"/>
              <a:ext cx="7912620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Docker0</a:t>
              </a:r>
              <a:r>
                <a:rPr lang="zh-TW" altLang="en-US" sz="1600" dirty="0"/>
                <a:t> </a:t>
              </a:r>
              <a:r>
                <a:rPr lang="en-US" altLang="zh-TW" sz="1600" dirty="0"/>
                <a:t>Bridge</a:t>
              </a:r>
              <a:r>
                <a:rPr lang="zh-TW" altLang="en-US" sz="1600" dirty="0"/>
                <a:t> </a:t>
              </a:r>
              <a:r>
                <a:rPr lang="en-US" altLang="zh-TW" sz="1600" dirty="0"/>
                <a:t>172.17.0.0/16</a:t>
              </a:r>
              <a:r>
                <a:rPr lang="zh-TW" altLang="en-US" sz="1600" dirty="0"/>
                <a:t> 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C8CCA67-40F0-4CB1-8FB2-8BCD2F07656E}"/>
                </a:ext>
              </a:extLst>
            </p:cNvPr>
            <p:cNvSpPr/>
            <p:nvPr/>
          </p:nvSpPr>
          <p:spPr>
            <a:xfrm>
              <a:off x="3373205" y="4436034"/>
              <a:ext cx="1162067" cy="33793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veth</a:t>
              </a:r>
              <a:endParaRPr lang="zh-TW" altLang="en-US" sz="1600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39D9E38-1196-4E5D-9027-AD2DA1C090F9}"/>
                </a:ext>
              </a:extLst>
            </p:cNvPr>
            <p:cNvSpPr/>
            <p:nvPr/>
          </p:nvSpPr>
          <p:spPr>
            <a:xfrm>
              <a:off x="3373206" y="3856187"/>
              <a:ext cx="1162067" cy="33793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eth0</a:t>
              </a:r>
              <a:endParaRPr lang="zh-TW" altLang="en-US" sz="1600" dirty="0"/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5597F474-7E89-46B7-B818-504E541D16F2}"/>
                </a:ext>
              </a:extLst>
            </p:cNvPr>
            <p:cNvCxnSpPr>
              <a:cxnSpLocks/>
              <a:stCxn id="11" idx="2"/>
              <a:endCxn id="10" idx="0"/>
            </p:cNvCxnSpPr>
            <p:nvPr/>
          </p:nvCxnSpPr>
          <p:spPr>
            <a:xfrm flipH="1">
              <a:off x="3954239" y="4194118"/>
              <a:ext cx="2" cy="241916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3BF8186-77FB-4FDD-B9A0-B86CEF408C7C}"/>
                </a:ext>
              </a:extLst>
            </p:cNvPr>
            <p:cNvSpPr/>
            <p:nvPr/>
          </p:nvSpPr>
          <p:spPr>
            <a:xfrm>
              <a:off x="5468563" y="5526156"/>
              <a:ext cx="1254874" cy="357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eth0</a:t>
              </a:r>
              <a:endParaRPr lang="zh-TW" altLang="en-US" sz="1600" dirty="0"/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2A05F3C6-29B5-4453-8E73-3645FC6600B0}"/>
                </a:ext>
              </a:extLst>
            </p:cNvPr>
            <p:cNvSpPr txBox="1"/>
            <p:nvPr/>
          </p:nvSpPr>
          <p:spPr>
            <a:xfrm>
              <a:off x="5327910" y="2112386"/>
              <a:ext cx="3273287" cy="5743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chemeClr val="bg1"/>
                  </a:solidFill>
                </a:rPr>
                <a:t>Node1</a:t>
              </a:r>
              <a:endParaRPr lang="zh-TW" alt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4477FC54-5698-473F-9A28-2BE22F7F99EC}"/>
              </a:ext>
            </a:extLst>
          </p:cNvPr>
          <p:cNvSpPr/>
          <p:nvPr/>
        </p:nvSpPr>
        <p:spPr>
          <a:xfrm>
            <a:off x="3410788" y="2592857"/>
            <a:ext cx="2200749" cy="121168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Docker2-DB</a:t>
            </a:r>
          </a:p>
          <a:p>
            <a:pPr algn="ctr"/>
            <a:r>
              <a:rPr lang="en-US" altLang="zh-TW" sz="1600" dirty="0"/>
              <a:t>172.17.0.3 </a:t>
            </a:r>
            <a:endParaRPr lang="zh-TW" altLang="en-US" sz="1600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9D63D50-42F9-4467-AF1B-533875208A0F}"/>
              </a:ext>
            </a:extLst>
          </p:cNvPr>
          <p:cNvSpPr/>
          <p:nvPr/>
        </p:nvSpPr>
        <p:spPr>
          <a:xfrm>
            <a:off x="4151432" y="4017638"/>
            <a:ext cx="719457" cy="2716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veth</a:t>
            </a:r>
            <a:endParaRPr lang="zh-TW" altLang="en-US" sz="16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16F5F3A-379B-4E79-920D-0E6DF139D6B3}"/>
              </a:ext>
            </a:extLst>
          </p:cNvPr>
          <p:cNvSpPr/>
          <p:nvPr/>
        </p:nvSpPr>
        <p:spPr>
          <a:xfrm>
            <a:off x="4151433" y="3551552"/>
            <a:ext cx="719457" cy="2716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eth0</a:t>
            </a:r>
            <a:endParaRPr lang="zh-TW" altLang="en-US" sz="1600" dirty="0"/>
          </a:p>
        </p:txBody>
      </p: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A5270A57-159E-40F3-9666-328CF4520461}"/>
              </a:ext>
            </a:extLst>
          </p:cNvPr>
          <p:cNvCxnSpPr>
            <a:cxnSpLocks/>
            <a:stCxn id="47" idx="2"/>
            <a:endCxn id="46" idx="0"/>
          </p:cNvCxnSpPr>
          <p:nvPr/>
        </p:nvCxnSpPr>
        <p:spPr>
          <a:xfrm flipH="1">
            <a:off x="4511161" y="3823184"/>
            <a:ext cx="1" cy="19445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315C32F-064D-401F-82D3-7066D6936FF2}"/>
              </a:ext>
            </a:extLst>
          </p:cNvPr>
          <p:cNvGrpSpPr/>
          <p:nvPr/>
        </p:nvGrpSpPr>
        <p:grpSpPr>
          <a:xfrm>
            <a:off x="6280224" y="2174945"/>
            <a:ext cx="5287617" cy="3031625"/>
            <a:chOff x="1825720" y="2112386"/>
            <a:chExt cx="8540560" cy="3771578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6BE1695-0E9E-4060-A776-607E99A6A83A}"/>
                </a:ext>
              </a:extLst>
            </p:cNvPr>
            <p:cNvSpPr/>
            <p:nvPr/>
          </p:nvSpPr>
          <p:spPr>
            <a:xfrm>
              <a:off x="1825720" y="2151928"/>
              <a:ext cx="8540560" cy="3732036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1600" dirty="0">
                <a:solidFill>
                  <a:schemeClr val="bg1"/>
                </a:solidFill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DC2BED2-CBBF-4D5E-9D11-5218E6E2CF11}"/>
                </a:ext>
              </a:extLst>
            </p:cNvPr>
            <p:cNvSpPr/>
            <p:nvPr/>
          </p:nvSpPr>
          <p:spPr>
            <a:xfrm>
              <a:off x="2176916" y="2663495"/>
              <a:ext cx="3554650" cy="150743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Docker1-Client</a:t>
              </a:r>
            </a:p>
            <a:p>
              <a:pPr algn="ctr"/>
              <a:r>
                <a:rPr lang="en-US" altLang="zh-TW" sz="1600" dirty="0"/>
                <a:t>172.17.0.2 </a:t>
              </a:r>
              <a:endParaRPr lang="zh-TW" altLang="en-US" sz="1600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A1FBC8FB-4D78-41C4-B78F-3B17CB57EF23}"/>
                </a:ext>
              </a:extLst>
            </p:cNvPr>
            <p:cNvSpPr/>
            <p:nvPr/>
          </p:nvSpPr>
          <p:spPr>
            <a:xfrm>
              <a:off x="2196782" y="4790660"/>
              <a:ext cx="7912620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Docker0</a:t>
              </a:r>
              <a:r>
                <a:rPr lang="zh-TW" altLang="en-US" sz="1600" dirty="0"/>
                <a:t>  </a:t>
              </a:r>
              <a:r>
                <a:rPr lang="en-US" altLang="zh-TW" sz="1600" dirty="0"/>
                <a:t>172.17.0.0/16</a:t>
              </a:r>
              <a:endParaRPr lang="zh-TW" altLang="en-US" sz="1600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0270C49-B8FE-4849-B228-3E91B6EBA6A4}"/>
                </a:ext>
              </a:extLst>
            </p:cNvPr>
            <p:cNvSpPr/>
            <p:nvPr/>
          </p:nvSpPr>
          <p:spPr>
            <a:xfrm>
              <a:off x="3373205" y="4436034"/>
              <a:ext cx="1162067" cy="33793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veth</a:t>
              </a:r>
              <a:endParaRPr lang="zh-TW" altLang="en-US" sz="1600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1E3A2DF-9714-4794-9200-F787A6A7E915}"/>
                </a:ext>
              </a:extLst>
            </p:cNvPr>
            <p:cNvSpPr/>
            <p:nvPr/>
          </p:nvSpPr>
          <p:spPr>
            <a:xfrm>
              <a:off x="3373206" y="3856187"/>
              <a:ext cx="1162067" cy="33793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eth0</a:t>
              </a:r>
              <a:endParaRPr lang="zh-TW" altLang="en-US" sz="1600" dirty="0"/>
            </a:p>
          </p:txBody>
        </p: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BD6B6906-8336-4BDF-9A47-F97051EE4C6B}"/>
                </a:ext>
              </a:extLst>
            </p:cNvPr>
            <p:cNvCxnSpPr>
              <a:cxnSpLocks/>
              <a:stCxn id="22" idx="2"/>
              <a:endCxn id="21" idx="0"/>
            </p:cNvCxnSpPr>
            <p:nvPr/>
          </p:nvCxnSpPr>
          <p:spPr>
            <a:xfrm flipH="1">
              <a:off x="3954239" y="4194118"/>
              <a:ext cx="2" cy="241916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A3AAF7D4-B866-479B-9D96-B13D0C54DFC9}"/>
                </a:ext>
              </a:extLst>
            </p:cNvPr>
            <p:cNvSpPr/>
            <p:nvPr/>
          </p:nvSpPr>
          <p:spPr>
            <a:xfrm>
              <a:off x="5468563" y="5526156"/>
              <a:ext cx="1254874" cy="357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eth0</a:t>
              </a:r>
              <a:endParaRPr lang="zh-TW" altLang="en-US" sz="1600" dirty="0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1FEAB269-5B15-46BD-9CF9-4DD1C49E608C}"/>
                </a:ext>
              </a:extLst>
            </p:cNvPr>
            <p:cNvSpPr txBox="1"/>
            <p:nvPr/>
          </p:nvSpPr>
          <p:spPr>
            <a:xfrm>
              <a:off x="5327910" y="2112386"/>
              <a:ext cx="3273287" cy="5743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chemeClr val="bg1"/>
                  </a:solidFill>
                </a:rPr>
                <a:t>Node2</a:t>
              </a:r>
              <a:endParaRPr lang="zh-TW" altLang="en-US" sz="24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B8238F5-9BDB-40A2-B8F0-234433FBFA29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1800763" y="4647502"/>
            <a:ext cx="937546" cy="38348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D13B38F2-756E-4770-9BED-901E89ACB494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7598029" y="4679286"/>
            <a:ext cx="937546" cy="38348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66D531B-E9AB-4D93-83CE-086F1CCD0813}"/>
              </a:ext>
            </a:extLst>
          </p:cNvPr>
          <p:cNvSpPr txBox="1"/>
          <p:nvPr/>
        </p:nvSpPr>
        <p:spPr>
          <a:xfrm>
            <a:off x="1637952" y="4719830"/>
            <a:ext cx="2026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chemeClr val="bg1"/>
                </a:solidFill>
              </a:rPr>
              <a:t>8080:80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D081F67-9DFB-4035-9CB6-FFED35EBDAB7}"/>
              </a:ext>
            </a:extLst>
          </p:cNvPr>
          <p:cNvSpPr txBox="1"/>
          <p:nvPr/>
        </p:nvSpPr>
        <p:spPr>
          <a:xfrm>
            <a:off x="7418838" y="4750992"/>
            <a:ext cx="20265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chemeClr val="bg1"/>
                </a:solidFill>
              </a:rPr>
              <a:t>9487:9487</a:t>
            </a:r>
            <a:endParaRPr lang="zh-TW" altLang="en-US" sz="1400" dirty="0">
              <a:solidFill>
                <a:schemeClr val="bg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1E58B4C-F374-460C-AE10-F3814ED80BFD}"/>
              </a:ext>
            </a:extLst>
          </p:cNvPr>
          <p:cNvSpPr/>
          <p:nvPr/>
        </p:nvSpPr>
        <p:spPr>
          <a:xfrm>
            <a:off x="3162113" y="5556246"/>
            <a:ext cx="75429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TW" altLang="en-US" dirty="0"/>
              <a:t>必須靠</a:t>
            </a:r>
            <a:r>
              <a:rPr lang="en-US" altLang="zh-TW" dirty="0"/>
              <a:t>NAT</a:t>
            </a:r>
            <a:r>
              <a:rPr lang="zh-TW" altLang="en-US" dirty="0"/>
              <a:t>協定，才能使得兩台節點中</a:t>
            </a:r>
            <a:r>
              <a:rPr lang="en-US" altLang="zh-TW" dirty="0" err="1"/>
              <a:t>SparkExecutor</a:t>
            </a:r>
            <a:r>
              <a:rPr lang="zh-TW" altLang="en-US" dirty="0"/>
              <a:t>實現互相訪問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142387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A1245C-C0E6-4BF7-BEA2-CA2B25E8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NAT</a:t>
            </a:r>
            <a:r>
              <a:rPr lang="zh-TW" altLang="en-US" dirty="0"/>
              <a:t>協定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BC361B-270B-41C2-B866-07D7BCCB97A1}"/>
              </a:ext>
            </a:extLst>
          </p:cNvPr>
          <p:cNvSpPr/>
          <p:nvPr/>
        </p:nvSpPr>
        <p:spPr>
          <a:xfrm>
            <a:off x="0" y="2672802"/>
            <a:ext cx="2582433" cy="9555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Docker1-BackendServer</a:t>
            </a:r>
          </a:p>
          <a:p>
            <a:pPr algn="ctr"/>
            <a:r>
              <a:rPr lang="en-US" altLang="zh-TW" dirty="0"/>
              <a:t>172.17.0.2 </a:t>
            </a:r>
          </a:p>
          <a:p>
            <a:pPr algn="ctr"/>
            <a:r>
              <a:rPr lang="en-US" altLang="zh-TW" dirty="0"/>
              <a:t>12345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8E7E95-FE9C-4713-99FA-82C46A83D47B}"/>
              </a:ext>
            </a:extLst>
          </p:cNvPr>
          <p:cNvSpPr/>
          <p:nvPr/>
        </p:nvSpPr>
        <p:spPr>
          <a:xfrm>
            <a:off x="3143571" y="2672802"/>
            <a:ext cx="2582433" cy="9555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Node1</a:t>
            </a:r>
          </a:p>
          <a:p>
            <a:pPr algn="ctr"/>
            <a:r>
              <a:rPr lang="en-US" altLang="zh-TW" dirty="0"/>
              <a:t>1.1.1.1</a:t>
            </a:r>
          </a:p>
          <a:p>
            <a:pPr algn="ctr"/>
            <a:r>
              <a:rPr lang="en-US" altLang="zh-TW" dirty="0"/>
              <a:t>12345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0A78C5E0-2CC1-4204-9CF1-4E942F7223ED}"/>
              </a:ext>
            </a:extLst>
          </p:cNvPr>
          <p:cNvSpPr/>
          <p:nvPr/>
        </p:nvSpPr>
        <p:spPr>
          <a:xfrm rot="18956612">
            <a:off x="3442348" y="3761215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6CB2970F-5C31-4450-A3C4-0FBD2A7A67D9}"/>
              </a:ext>
            </a:extLst>
          </p:cNvPr>
          <p:cNvSpPr/>
          <p:nvPr/>
        </p:nvSpPr>
        <p:spPr>
          <a:xfrm rot="2953801">
            <a:off x="8393282" y="3705888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1CACE7-620F-43F1-8726-A05D2E149476}"/>
              </a:ext>
            </a:extLst>
          </p:cNvPr>
          <p:cNvSpPr/>
          <p:nvPr/>
        </p:nvSpPr>
        <p:spPr>
          <a:xfrm>
            <a:off x="1354459" y="4248670"/>
            <a:ext cx="2582433" cy="11449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00"/>
                </a:solidFill>
              </a:rPr>
              <a:t>Package A</a:t>
            </a:r>
          </a:p>
          <a:p>
            <a:pPr algn="ctr"/>
            <a:r>
              <a:rPr lang="en-US" altLang="zh-TW" dirty="0">
                <a:solidFill>
                  <a:srgbClr val="FFFF00"/>
                </a:solidFill>
              </a:rPr>
              <a:t>Source: 172.17.0.2:12345</a:t>
            </a:r>
          </a:p>
          <a:p>
            <a:pPr algn="ctr"/>
            <a:r>
              <a:rPr lang="en-US" altLang="zh-TW" dirty="0">
                <a:solidFill>
                  <a:srgbClr val="FFFF00"/>
                </a:solidFill>
              </a:rPr>
              <a:t>Destination:2.2.2.2:12345</a:t>
            </a:r>
            <a:endParaRPr lang="zh-TW" altLang="en-US" dirty="0">
              <a:solidFill>
                <a:srgbClr val="FFFF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6F8ADD-072C-4322-88E0-4748068FFD5A}"/>
              </a:ext>
            </a:extLst>
          </p:cNvPr>
          <p:cNvSpPr/>
          <p:nvPr/>
        </p:nvSpPr>
        <p:spPr>
          <a:xfrm>
            <a:off x="4773227" y="4237948"/>
            <a:ext cx="2954408" cy="11449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Package A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</a:rPr>
              <a:t>Source:1.1.1.1:12345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</a:rPr>
              <a:t>Destination:2.2.2.2:12345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9F5377-185C-4ADB-926E-7A395919EE44}"/>
              </a:ext>
            </a:extLst>
          </p:cNvPr>
          <p:cNvSpPr/>
          <p:nvPr/>
        </p:nvSpPr>
        <p:spPr>
          <a:xfrm>
            <a:off x="6363251" y="2656438"/>
            <a:ext cx="2582433" cy="9555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Node2</a:t>
            </a:r>
          </a:p>
          <a:p>
            <a:pPr algn="ctr"/>
            <a:r>
              <a:rPr lang="en-US" altLang="zh-TW" dirty="0"/>
              <a:t>2.2.2.2</a:t>
            </a:r>
          </a:p>
          <a:p>
            <a:pPr algn="ctr"/>
            <a:r>
              <a:rPr lang="en-US" altLang="zh-TW" dirty="0"/>
              <a:t>12345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5FFD4E-C3CB-4603-BFC4-7A43055E8D72}"/>
              </a:ext>
            </a:extLst>
          </p:cNvPr>
          <p:cNvSpPr/>
          <p:nvPr/>
        </p:nvSpPr>
        <p:spPr>
          <a:xfrm>
            <a:off x="8563970" y="4248670"/>
            <a:ext cx="2954408" cy="11449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</a:rPr>
              <a:t>Source: 2.2.2.2:12345 Destination:172.17.0.2:12345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6DE724-2FE0-4431-9B21-0F1695B2B5EA}"/>
              </a:ext>
            </a:extLst>
          </p:cNvPr>
          <p:cNvSpPr/>
          <p:nvPr/>
        </p:nvSpPr>
        <p:spPr>
          <a:xfrm>
            <a:off x="9522374" y="2656438"/>
            <a:ext cx="2582433" cy="9555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Client</a:t>
            </a:r>
          </a:p>
          <a:p>
            <a:pPr algn="ctr"/>
            <a:r>
              <a:rPr lang="en-US" altLang="zh-TW" dirty="0"/>
              <a:t>172.17.0.2 </a:t>
            </a:r>
          </a:p>
          <a:p>
            <a:pPr algn="ctr"/>
            <a:r>
              <a:rPr lang="en-US" altLang="zh-TW" dirty="0"/>
              <a:t>12345</a:t>
            </a:r>
            <a:endParaRPr lang="zh-TW" altLang="en-US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11277383-0234-4DE9-963A-93AAA45F824E}"/>
              </a:ext>
            </a:extLst>
          </p:cNvPr>
          <p:cNvSpPr/>
          <p:nvPr/>
        </p:nvSpPr>
        <p:spPr>
          <a:xfrm rot="18956612">
            <a:off x="6931073" y="3706040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125F7075-5BFF-455A-8452-DC13B63D34EB}"/>
              </a:ext>
            </a:extLst>
          </p:cNvPr>
          <p:cNvSpPr/>
          <p:nvPr/>
        </p:nvSpPr>
        <p:spPr>
          <a:xfrm rot="18956612">
            <a:off x="10268749" y="3706039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69A1A544-70BE-4D9B-A863-A402D5D82B59}"/>
              </a:ext>
            </a:extLst>
          </p:cNvPr>
          <p:cNvSpPr/>
          <p:nvPr/>
        </p:nvSpPr>
        <p:spPr>
          <a:xfrm rot="2953801">
            <a:off x="5283028" y="3764523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FF12016B-A785-4C67-BC46-6DCE71EA217E}"/>
              </a:ext>
            </a:extLst>
          </p:cNvPr>
          <p:cNvSpPr/>
          <p:nvPr/>
        </p:nvSpPr>
        <p:spPr>
          <a:xfrm rot="2953801">
            <a:off x="1123694" y="3764525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1338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A1245C-C0E6-4BF7-BEA2-CA2B25E8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NAT</a:t>
            </a:r>
            <a:r>
              <a:rPr lang="zh-TW" altLang="en-US" dirty="0"/>
              <a:t>協定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BC361B-270B-41C2-B866-07D7BCCB97A1}"/>
              </a:ext>
            </a:extLst>
          </p:cNvPr>
          <p:cNvSpPr/>
          <p:nvPr/>
        </p:nvSpPr>
        <p:spPr>
          <a:xfrm>
            <a:off x="0" y="2672802"/>
            <a:ext cx="2582433" cy="9555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SparkExecutor1</a:t>
            </a:r>
          </a:p>
          <a:p>
            <a:pPr algn="ctr"/>
            <a:r>
              <a:rPr lang="en-US" altLang="zh-TW" dirty="0"/>
              <a:t>172.17.0.2 </a:t>
            </a:r>
          </a:p>
          <a:p>
            <a:pPr algn="ctr"/>
            <a:r>
              <a:rPr lang="en-US" altLang="zh-TW" dirty="0"/>
              <a:t>12345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8E7E95-FE9C-4713-99FA-82C46A83D47B}"/>
              </a:ext>
            </a:extLst>
          </p:cNvPr>
          <p:cNvSpPr/>
          <p:nvPr/>
        </p:nvSpPr>
        <p:spPr>
          <a:xfrm>
            <a:off x="3143571" y="2672802"/>
            <a:ext cx="2582433" cy="9555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Node1</a:t>
            </a:r>
          </a:p>
          <a:p>
            <a:pPr algn="ctr"/>
            <a:r>
              <a:rPr lang="en-US" altLang="zh-TW" dirty="0"/>
              <a:t>1.1.1.1</a:t>
            </a:r>
          </a:p>
          <a:p>
            <a:pPr algn="ctr"/>
            <a:r>
              <a:rPr lang="en-US" altLang="zh-TW" dirty="0"/>
              <a:t>12345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0A78C5E0-2CC1-4204-9CF1-4E942F7223ED}"/>
              </a:ext>
            </a:extLst>
          </p:cNvPr>
          <p:cNvSpPr/>
          <p:nvPr/>
        </p:nvSpPr>
        <p:spPr>
          <a:xfrm rot="18956612">
            <a:off x="3442348" y="3761215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6CB2970F-5C31-4450-A3C4-0FBD2A7A67D9}"/>
              </a:ext>
            </a:extLst>
          </p:cNvPr>
          <p:cNvSpPr/>
          <p:nvPr/>
        </p:nvSpPr>
        <p:spPr>
          <a:xfrm rot="2953801">
            <a:off x="8393282" y="3705888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1CACE7-620F-43F1-8726-A05D2E149476}"/>
              </a:ext>
            </a:extLst>
          </p:cNvPr>
          <p:cNvSpPr/>
          <p:nvPr/>
        </p:nvSpPr>
        <p:spPr>
          <a:xfrm>
            <a:off x="1354459" y="4248670"/>
            <a:ext cx="2582433" cy="11449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</a:rPr>
              <a:t>Source: 172.17.0.2:12345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</a:rPr>
              <a:t>Destination:2.2.2.2:12345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6F8ADD-072C-4322-88E0-4748068FFD5A}"/>
              </a:ext>
            </a:extLst>
          </p:cNvPr>
          <p:cNvSpPr/>
          <p:nvPr/>
        </p:nvSpPr>
        <p:spPr>
          <a:xfrm>
            <a:off x="4773227" y="4237948"/>
            <a:ext cx="2954408" cy="11449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00"/>
                </a:solidFill>
              </a:rPr>
              <a:t>Package A</a:t>
            </a:r>
          </a:p>
          <a:p>
            <a:pPr algn="ctr"/>
            <a:r>
              <a:rPr lang="en-US" altLang="zh-TW" dirty="0">
                <a:solidFill>
                  <a:srgbClr val="FFFF00"/>
                </a:solidFill>
              </a:rPr>
              <a:t>Source:1.1.1.1:12345</a:t>
            </a:r>
          </a:p>
          <a:p>
            <a:pPr algn="ctr"/>
            <a:r>
              <a:rPr lang="en-US" altLang="zh-TW" dirty="0">
                <a:solidFill>
                  <a:srgbClr val="FFFF00"/>
                </a:solidFill>
              </a:rPr>
              <a:t>Destination:2.2.2.2:12345</a:t>
            </a:r>
            <a:endParaRPr lang="zh-TW" altLang="en-US" dirty="0">
              <a:solidFill>
                <a:srgbClr val="FFFF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9F5377-185C-4ADB-926E-7A395919EE44}"/>
              </a:ext>
            </a:extLst>
          </p:cNvPr>
          <p:cNvSpPr/>
          <p:nvPr/>
        </p:nvSpPr>
        <p:spPr>
          <a:xfrm>
            <a:off x="6363251" y="2656438"/>
            <a:ext cx="2582433" cy="9555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Node2</a:t>
            </a:r>
          </a:p>
          <a:p>
            <a:pPr algn="ctr"/>
            <a:r>
              <a:rPr lang="en-US" altLang="zh-TW" dirty="0"/>
              <a:t>2.2.2.2</a:t>
            </a:r>
          </a:p>
          <a:p>
            <a:pPr algn="ctr"/>
            <a:r>
              <a:rPr lang="en-US" altLang="zh-TW" dirty="0"/>
              <a:t>12345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5FFD4E-C3CB-4603-BFC4-7A43055E8D72}"/>
              </a:ext>
            </a:extLst>
          </p:cNvPr>
          <p:cNvSpPr/>
          <p:nvPr/>
        </p:nvSpPr>
        <p:spPr>
          <a:xfrm>
            <a:off x="8563970" y="4248670"/>
            <a:ext cx="2954408" cy="11449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</a:rPr>
              <a:t>Source: 2.2.2.2:12345 Destination:172.17.0.2:12345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6DE724-2FE0-4431-9B21-0F1695B2B5EA}"/>
              </a:ext>
            </a:extLst>
          </p:cNvPr>
          <p:cNvSpPr/>
          <p:nvPr/>
        </p:nvSpPr>
        <p:spPr>
          <a:xfrm>
            <a:off x="9522374" y="2656438"/>
            <a:ext cx="2582433" cy="9555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SparkExecutor3</a:t>
            </a:r>
          </a:p>
          <a:p>
            <a:pPr algn="ctr"/>
            <a:r>
              <a:rPr lang="en-US" altLang="zh-TW" dirty="0"/>
              <a:t>172.17.0.2 </a:t>
            </a:r>
          </a:p>
          <a:p>
            <a:pPr algn="ctr"/>
            <a:r>
              <a:rPr lang="en-US" altLang="zh-TW" dirty="0"/>
              <a:t>12345</a:t>
            </a:r>
            <a:endParaRPr lang="zh-TW" altLang="en-US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11277383-0234-4DE9-963A-93AAA45F824E}"/>
              </a:ext>
            </a:extLst>
          </p:cNvPr>
          <p:cNvSpPr/>
          <p:nvPr/>
        </p:nvSpPr>
        <p:spPr>
          <a:xfrm rot="18956612">
            <a:off x="6931073" y="3706040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125F7075-5BFF-455A-8452-DC13B63D34EB}"/>
              </a:ext>
            </a:extLst>
          </p:cNvPr>
          <p:cNvSpPr/>
          <p:nvPr/>
        </p:nvSpPr>
        <p:spPr>
          <a:xfrm rot="18956612">
            <a:off x="10268749" y="3706039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69A1A544-70BE-4D9B-A863-A402D5D82B59}"/>
              </a:ext>
            </a:extLst>
          </p:cNvPr>
          <p:cNvSpPr/>
          <p:nvPr/>
        </p:nvSpPr>
        <p:spPr>
          <a:xfrm rot="2953801">
            <a:off x="5283028" y="3764523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FF12016B-A785-4C67-BC46-6DCE71EA217E}"/>
              </a:ext>
            </a:extLst>
          </p:cNvPr>
          <p:cNvSpPr/>
          <p:nvPr/>
        </p:nvSpPr>
        <p:spPr>
          <a:xfrm rot="2953801">
            <a:off x="1123694" y="3764525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49938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A1245C-C0E6-4BF7-BEA2-CA2B25E84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NAT</a:t>
            </a:r>
            <a:r>
              <a:rPr lang="zh-TW" altLang="en-US" dirty="0"/>
              <a:t>協定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BC361B-270B-41C2-B866-07D7BCCB97A1}"/>
              </a:ext>
            </a:extLst>
          </p:cNvPr>
          <p:cNvSpPr/>
          <p:nvPr/>
        </p:nvSpPr>
        <p:spPr>
          <a:xfrm>
            <a:off x="0" y="2672802"/>
            <a:ext cx="2582433" cy="9555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SparkExecutor1</a:t>
            </a:r>
          </a:p>
          <a:p>
            <a:pPr algn="ctr"/>
            <a:r>
              <a:rPr lang="en-US" altLang="zh-TW" dirty="0"/>
              <a:t>172.17.0.2 </a:t>
            </a:r>
          </a:p>
          <a:p>
            <a:pPr algn="ctr"/>
            <a:r>
              <a:rPr lang="en-US" altLang="zh-TW" dirty="0"/>
              <a:t>12345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8E7E95-FE9C-4713-99FA-82C46A83D47B}"/>
              </a:ext>
            </a:extLst>
          </p:cNvPr>
          <p:cNvSpPr/>
          <p:nvPr/>
        </p:nvSpPr>
        <p:spPr>
          <a:xfrm>
            <a:off x="3143571" y="2672802"/>
            <a:ext cx="2582433" cy="9555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Node1</a:t>
            </a:r>
          </a:p>
          <a:p>
            <a:pPr algn="ctr"/>
            <a:r>
              <a:rPr lang="en-US" altLang="zh-TW" dirty="0"/>
              <a:t>1.1.1.1</a:t>
            </a:r>
          </a:p>
          <a:p>
            <a:pPr algn="ctr"/>
            <a:r>
              <a:rPr lang="en-US" altLang="zh-TW" dirty="0"/>
              <a:t>12345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0A78C5E0-2CC1-4204-9CF1-4E942F7223ED}"/>
              </a:ext>
            </a:extLst>
          </p:cNvPr>
          <p:cNvSpPr/>
          <p:nvPr/>
        </p:nvSpPr>
        <p:spPr>
          <a:xfrm rot="18956612">
            <a:off x="3442348" y="3761215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6CB2970F-5C31-4450-A3C4-0FBD2A7A67D9}"/>
              </a:ext>
            </a:extLst>
          </p:cNvPr>
          <p:cNvSpPr/>
          <p:nvPr/>
        </p:nvSpPr>
        <p:spPr>
          <a:xfrm rot="2953801">
            <a:off x="8393282" y="3705888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D1CACE7-620F-43F1-8726-A05D2E149476}"/>
              </a:ext>
            </a:extLst>
          </p:cNvPr>
          <p:cNvSpPr/>
          <p:nvPr/>
        </p:nvSpPr>
        <p:spPr>
          <a:xfrm>
            <a:off x="1354459" y="4248670"/>
            <a:ext cx="2582433" cy="11449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Package A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</a:rPr>
              <a:t>Source: 172.17.0.2:12345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</a:rPr>
              <a:t>Destination:2.2.2.2:12345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6F8ADD-072C-4322-88E0-4748068FFD5A}"/>
              </a:ext>
            </a:extLst>
          </p:cNvPr>
          <p:cNvSpPr/>
          <p:nvPr/>
        </p:nvSpPr>
        <p:spPr>
          <a:xfrm>
            <a:off x="4773227" y="4237948"/>
            <a:ext cx="2954408" cy="11449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Package A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</a:rPr>
              <a:t>Source:1.1.1.1:12345</a:t>
            </a:r>
          </a:p>
          <a:p>
            <a:pPr algn="ctr"/>
            <a:r>
              <a:rPr lang="en-US" altLang="zh-TW" dirty="0">
                <a:solidFill>
                  <a:schemeClr val="bg1"/>
                </a:solidFill>
              </a:rPr>
              <a:t>Destination:2.2.2.2:12345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9F5377-185C-4ADB-926E-7A395919EE44}"/>
              </a:ext>
            </a:extLst>
          </p:cNvPr>
          <p:cNvSpPr/>
          <p:nvPr/>
        </p:nvSpPr>
        <p:spPr>
          <a:xfrm>
            <a:off x="6363251" y="2656438"/>
            <a:ext cx="2582433" cy="9555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Node2</a:t>
            </a:r>
          </a:p>
          <a:p>
            <a:pPr algn="ctr"/>
            <a:r>
              <a:rPr lang="en-US" altLang="zh-TW" dirty="0"/>
              <a:t>2.2.2.2</a:t>
            </a:r>
          </a:p>
          <a:p>
            <a:pPr algn="ctr"/>
            <a:r>
              <a:rPr lang="en-US" altLang="zh-TW" dirty="0"/>
              <a:t>12345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5FFD4E-C3CB-4603-BFC4-7A43055E8D72}"/>
              </a:ext>
            </a:extLst>
          </p:cNvPr>
          <p:cNvSpPr/>
          <p:nvPr/>
        </p:nvSpPr>
        <p:spPr>
          <a:xfrm>
            <a:off x="8563970" y="4248670"/>
            <a:ext cx="2954408" cy="114498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FF00"/>
                </a:solidFill>
              </a:rPr>
              <a:t>Package A</a:t>
            </a:r>
          </a:p>
          <a:p>
            <a:pPr algn="ctr"/>
            <a:r>
              <a:rPr lang="en-US" altLang="zh-TW" dirty="0">
                <a:solidFill>
                  <a:srgbClr val="FFFF00"/>
                </a:solidFill>
              </a:rPr>
              <a:t>Source: 2.2.2.2:12345 Destination:172.17.0.2:12345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6DE724-2FE0-4431-9B21-0F1695B2B5EA}"/>
              </a:ext>
            </a:extLst>
          </p:cNvPr>
          <p:cNvSpPr/>
          <p:nvPr/>
        </p:nvSpPr>
        <p:spPr>
          <a:xfrm>
            <a:off x="9522374" y="2656438"/>
            <a:ext cx="2582433" cy="955596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SparkExecutor3</a:t>
            </a:r>
          </a:p>
          <a:p>
            <a:pPr algn="ctr"/>
            <a:r>
              <a:rPr lang="en-US" altLang="zh-TW" dirty="0"/>
              <a:t>172.17.0.2 </a:t>
            </a:r>
          </a:p>
          <a:p>
            <a:pPr algn="ctr"/>
            <a:r>
              <a:rPr lang="en-US" altLang="zh-TW" dirty="0"/>
              <a:t>12345</a:t>
            </a:r>
            <a:endParaRPr lang="zh-TW" altLang="en-US" dirty="0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11277383-0234-4DE9-963A-93AAA45F824E}"/>
              </a:ext>
            </a:extLst>
          </p:cNvPr>
          <p:cNvSpPr/>
          <p:nvPr/>
        </p:nvSpPr>
        <p:spPr>
          <a:xfrm rot="18956612">
            <a:off x="6931073" y="3706040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125F7075-5BFF-455A-8452-DC13B63D34EB}"/>
              </a:ext>
            </a:extLst>
          </p:cNvPr>
          <p:cNvSpPr/>
          <p:nvPr/>
        </p:nvSpPr>
        <p:spPr>
          <a:xfrm rot="18956612">
            <a:off x="10268749" y="3706039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69A1A544-70BE-4D9B-A863-A402D5D82B59}"/>
              </a:ext>
            </a:extLst>
          </p:cNvPr>
          <p:cNvSpPr/>
          <p:nvPr/>
        </p:nvSpPr>
        <p:spPr>
          <a:xfrm rot="2953801">
            <a:off x="5283028" y="3764523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FF12016B-A785-4C67-BC46-6DCE71EA217E}"/>
              </a:ext>
            </a:extLst>
          </p:cNvPr>
          <p:cNvSpPr/>
          <p:nvPr/>
        </p:nvSpPr>
        <p:spPr>
          <a:xfrm rot="2953801">
            <a:off x="1123694" y="3764525"/>
            <a:ext cx="494544" cy="3661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3767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32E6D8-DBAE-4C69-9BDF-49CEF319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問題</a:t>
            </a:r>
            <a:r>
              <a:rPr lang="en-US" altLang="zh-TW" dirty="0"/>
              <a:t>1:</a:t>
            </a:r>
            <a:r>
              <a:rPr lang="zh-TW" altLang="en-US" dirty="0"/>
              <a:t> 網路消耗很大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A6FC61-45A5-4762-ADAE-A4AF45244506}"/>
              </a:ext>
            </a:extLst>
          </p:cNvPr>
          <p:cNvSpPr/>
          <p:nvPr/>
        </p:nvSpPr>
        <p:spPr>
          <a:xfrm>
            <a:off x="1867392" y="2119538"/>
            <a:ext cx="932612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TW" altLang="en-US" dirty="0"/>
              <a:t>剛剛的流程大家可以看到只是要將一個封包從</a:t>
            </a:r>
            <a:r>
              <a:rPr lang="en-US" altLang="zh-TW" dirty="0"/>
              <a:t>SparkExecutor1</a:t>
            </a:r>
            <a:r>
              <a:rPr lang="zh-TW" altLang="en-US" dirty="0"/>
              <a:t>傳到</a:t>
            </a:r>
            <a:r>
              <a:rPr lang="en-US" altLang="zh-TW" dirty="0"/>
              <a:t>SparkExecutor3</a:t>
            </a:r>
            <a:r>
              <a:rPr lang="zh-TW" altLang="en-US" dirty="0"/>
              <a:t>，得修改</a:t>
            </a:r>
            <a:r>
              <a:rPr lang="en-US" altLang="zh-TW" dirty="0"/>
              <a:t>2</a:t>
            </a:r>
            <a:r>
              <a:rPr lang="zh-TW" altLang="en-US" dirty="0"/>
              <a:t>次封包的</a:t>
            </a:r>
            <a:r>
              <a:rPr lang="en-US" altLang="zh-TW" dirty="0"/>
              <a:t>Source</a:t>
            </a:r>
            <a:r>
              <a:rPr lang="zh-TW" altLang="en-US" dirty="0"/>
              <a:t>與</a:t>
            </a:r>
            <a:r>
              <a:rPr lang="en-US" altLang="zh-TW" dirty="0" err="1"/>
              <a:t>Destionation</a:t>
            </a:r>
            <a:r>
              <a:rPr lang="zh-TW" altLang="en-US" dirty="0"/>
              <a:t>，看起來好像不困難，問題</a:t>
            </a:r>
            <a:r>
              <a:rPr lang="en-US" altLang="zh-TW" dirty="0"/>
              <a:t>TCP/IP</a:t>
            </a:r>
            <a:r>
              <a:rPr lang="zh-TW" altLang="en-US" dirty="0"/>
              <a:t>協定是在</a:t>
            </a:r>
            <a:r>
              <a:rPr lang="en-US" altLang="zh-TW" dirty="0"/>
              <a:t>OSI</a:t>
            </a:r>
            <a:r>
              <a:rPr lang="zh-TW" altLang="en-US" dirty="0"/>
              <a:t>第</a:t>
            </a:r>
            <a:r>
              <a:rPr lang="en-US" altLang="zh-TW" dirty="0"/>
              <a:t>3</a:t>
            </a:r>
            <a:r>
              <a:rPr lang="zh-TW" altLang="en-US" dirty="0"/>
              <a:t>層，</a:t>
            </a:r>
            <a:r>
              <a:rPr lang="zh-TW" altLang="en-US" dirty="0">
                <a:highlight>
                  <a:srgbClr val="FFFF00"/>
                </a:highlight>
              </a:rPr>
              <a:t>要修改</a:t>
            </a:r>
            <a:r>
              <a:rPr lang="en-US" altLang="zh-TW" dirty="0">
                <a:highlight>
                  <a:srgbClr val="FFFF00"/>
                </a:highlight>
              </a:rPr>
              <a:t>IP</a:t>
            </a:r>
            <a:r>
              <a:rPr lang="zh-TW" altLang="en-US" dirty="0">
                <a:highlight>
                  <a:srgbClr val="FFFF00"/>
                </a:highlight>
              </a:rPr>
              <a:t>得先解開</a:t>
            </a:r>
            <a:r>
              <a:rPr lang="en-US" altLang="zh-TW" dirty="0">
                <a:highlight>
                  <a:srgbClr val="FFFF00"/>
                </a:highlight>
              </a:rPr>
              <a:t>Layer1</a:t>
            </a:r>
            <a:r>
              <a:rPr lang="zh-TW" altLang="en-US" dirty="0">
                <a:highlight>
                  <a:srgbClr val="FFFF00"/>
                </a:highlight>
              </a:rPr>
              <a:t>標頭，再解開</a:t>
            </a:r>
            <a:r>
              <a:rPr lang="en-US" altLang="zh-TW" dirty="0">
                <a:highlight>
                  <a:srgbClr val="FFFF00"/>
                </a:highlight>
              </a:rPr>
              <a:t>Layer2</a:t>
            </a:r>
            <a:r>
              <a:rPr lang="zh-TW" altLang="en-US" dirty="0">
                <a:highlight>
                  <a:srgbClr val="FFFF00"/>
                </a:highlight>
              </a:rPr>
              <a:t>標頭，修改完，再封裝</a:t>
            </a:r>
            <a:r>
              <a:rPr lang="en-US" altLang="zh-TW" dirty="0">
                <a:highlight>
                  <a:srgbClr val="FFFF00"/>
                </a:highlight>
              </a:rPr>
              <a:t>Layer2</a:t>
            </a:r>
            <a:r>
              <a:rPr lang="zh-TW" altLang="en-US" dirty="0">
                <a:highlight>
                  <a:srgbClr val="FFFF00"/>
                </a:highlight>
              </a:rPr>
              <a:t>再封裝</a:t>
            </a:r>
            <a:r>
              <a:rPr lang="en-US" altLang="zh-TW" dirty="0">
                <a:highlight>
                  <a:srgbClr val="FFFF00"/>
                </a:highlight>
              </a:rPr>
              <a:t>Layer1</a:t>
            </a:r>
            <a:r>
              <a:rPr lang="zh-TW" altLang="en-US" dirty="0"/>
              <a:t>，如果每個跨虛擬網路的封包都得這樣做，光網路封包很快就可以搞掛機器，而且節點也沒那麼多</a:t>
            </a:r>
            <a:r>
              <a:rPr lang="en-US" altLang="zh-TW" dirty="0"/>
              <a:t>Port</a:t>
            </a:r>
            <a:r>
              <a:rPr lang="zh-TW" altLang="en-US" dirty="0"/>
              <a:t>可以映射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2C2AA7E-B2CA-44C7-A1FF-F614301E4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837" y="3596866"/>
            <a:ext cx="4876758" cy="251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89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CA574-6828-4D17-9A92-E348DD1C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Flannel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41E584-D7B8-4044-8303-6D884D11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10509193" cy="549338"/>
          </a:xfrm>
        </p:spPr>
        <p:txBody>
          <a:bodyPr>
            <a:noAutofit/>
          </a:bodyPr>
          <a:lstStyle/>
          <a:p>
            <a:r>
              <a:rPr lang="zh-TW" altLang="en-US" sz="1600" dirty="0">
                <a:highlight>
                  <a:srgbClr val="FFFF00"/>
                </a:highlight>
              </a:rPr>
              <a:t>前面使用</a:t>
            </a:r>
            <a:r>
              <a:rPr lang="en-US" altLang="zh-TW" sz="1600" dirty="0">
                <a:highlight>
                  <a:srgbClr val="FFFF00"/>
                </a:highlight>
              </a:rPr>
              <a:t>NAT</a:t>
            </a:r>
            <a:r>
              <a:rPr lang="zh-TW" altLang="en-US" sz="1600" dirty="0">
                <a:highlight>
                  <a:srgbClr val="FFFF00"/>
                </a:highlight>
              </a:rPr>
              <a:t>解決虛擬網路間衝突但代價很大，</a:t>
            </a:r>
            <a:r>
              <a:rPr lang="en-US" altLang="zh-TW" sz="1600" dirty="0">
                <a:highlight>
                  <a:srgbClr val="FFFF00"/>
                </a:highlight>
              </a:rPr>
              <a:t>Google</a:t>
            </a:r>
            <a:r>
              <a:rPr lang="zh-TW" altLang="en-US" sz="1600" dirty="0">
                <a:highlight>
                  <a:srgbClr val="FFFF00"/>
                </a:highlight>
              </a:rPr>
              <a:t>的指導意見是將</a:t>
            </a:r>
            <a:r>
              <a:rPr lang="en-US" altLang="zh-TW" sz="1600" dirty="0">
                <a:highlight>
                  <a:srgbClr val="FFFF00"/>
                </a:highlight>
              </a:rPr>
              <a:t>”</a:t>
            </a:r>
            <a:r>
              <a:rPr lang="zh-TW" altLang="en-US" sz="1600" dirty="0">
                <a:highlight>
                  <a:srgbClr val="FFFF00"/>
                </a:highlight>
              </a:rPr>
              <a:t>網路鋪平</a:t>
            </a:r>
            <a:r>
              <a:rPr lang="en-US" altLang="zh-TW" sz="1600" dirty="0">
                <a:highlight>
                  <a:srgbClr val="FFFF00"/>
                </a:highlight>
              </a:rPr>
              <a:t>”</a:t>
            </a:r>
          </a:p>
          <a:p>
            <a:r>
              <a:rPr lang="zh-TW" altLang="en-US" sz="1600" dirty="0"/>
              <a:t>原本</a:t>
            </a:r>
            <a:r>
              <a:rPr lang="en-US" altLang="zh-TW" sz="1600" dirty="0"/>
              <a:t>Docker</a:t>
            </a:r>
            <a:r>
              <a:rPr lang="zh-TW" altLang="en-US" sz="1600" dirty="0"/>
              <a:t>網段是</a:t>
            </a:r>
            <a:r>
              <a:rPr lang="en-US" altLang="zh-TW" sz="1600" dirty="0"/>
              <a:t>172.17.0.0/16</a:t>
            </a:r>
            <a:r>
              <a:rPr lang="zh-TW" altLang="en-US" sz="1600" dirty="0"/>
              <a:t>這個網段太大了，可以放下</a:t>
            </a:r>
            <a:r>
              <a:rPr lang="en-US" altLang="zh-TW" sz="1600" dirty="0"/>
              <a:t>2</a:t>
            </a:r>
            <a:r>
              <a:rPr lang="zh-TW" altLang="en-US" sz="1600" dirty="0"/>
              <a:t>的</a:t>
            </a:r>
            <a:r>
              <a:rPr lang="en-US" altLang="zh-TW" sz="1600" dirty="0"/>
              <a:t>16</a:t>
            </a:r>
            <a:r>
              <a:rPr lang="zh-TW" altLang="en-US" sz="1600" dirty="0"/>
              <a:t>次方個應用，根本沒有</a:t>
            </a:r>
            <a:r>
              <a:rPr lang="en-US" altLang="zh-TW" sz="1600" dirty="0"/>
              <a:t>node</a:t>
            </a:r>
            <a:r>
              <a:rPr lang="zh-TW" altLang="en-US" sz="1600" dirty="0"/>
              <a:t>可以擺下那麼多應用</a:t>
            </a:r>
            <a:endParaRPr lang="en-US" altLang="zh-TW" sz="1600" dirty="0"/>
          </a:p>
          <a:p>
            <a:r>
              <a:rPr lang="en-US" altLang="zh-TW" sz="1600" dirty="0"/>
              <a:t>Flannel</a:t>
            </a:r>
            <a:r>
              <a:rPr lang="zh-TW" altLang="en-US" sz="1600" dirty="0"/>
              <a:t>將原本</a:t>
            </a:r>
            <a:r>
              <a:rPr lang="en-US" altLang="zh-TW" sz="1600" dirty="0"/>
              <a:t>/16</a:t>
            </a:r>
            <a:r>
              <a:rPr lang="zh-TW" altLang="en-US" sz="1600" dirty="0"/>
              <a:t>的網段映射成數個不衝突</a:t>
            </a:r>
            <a:r>
              <a:rPr lang="en-US" altLang="zh-TW" sz="1600" dirty="0"/>
              <a:t>/24</a:t>
            </a:r>
            <a:r>
              <a:rPr lang="zh-TW" altLang="en-US" sz="1600" dirty="0"/>
              <a:t>的網段再分配給每個節點</a:t>
            </a:r>
            <a:endParaRPr lang="en-US" altLang="zh-TW" sz="1600" dirty="0"/>
          </a:p>
          <a:p>
            <a:endParaRPr lang="en-US" altLang="zh-TW" sz="1600" dirty="0"/>
          </a:p>
          <a:p>
            <a:endParaRPr lang="zh-TW" altLang="en-US" sz="1600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0DC3F5FF-2E00-4B6E-A0E5-6316186B8C23}"/>
              </a:ext>
            </a:extLst>
          </p:cNvPr>
          <p:cNvGrpSpPr/>
          <p:nvPr/>
        </p:nvGrpSpPr>
        <p:grpSpPr>
          <a:xfrm>
            <a:off x="157138" y="3429000"/>
            <a:ext cx="5287617" cy="3030027"/>
            <a:chOff x="1825720" y="2114374"/>
            <a:chExt cx="8540560" cy="376959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11A68FC-52B5-4094-8EBA-20B87232B31C}"/>
                </a:ext>
              </a:extLst>
            </p:cNvPr>
            <p:cNvSpPr/>
            <p:nvPr/>
          </p:nvSpPr>
          <p:spPr>
            <a:xfrm>
              <a:off x="1825720" y="2151928"/>
              <a:ext cx="8540560" cy="3732036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1600" dirty="0">
                <a:solidFill>
                  <a:schemeClr val="bg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6F2545C-0994-4485-9AD2-05203270F234}"/>
                </a:ext>
              </a:extLst>
            </p:cNvPr>
            <p:cNvSpPr/>
            <p:nvPr/>
          </p:nvSpPr>
          <p:spPr>
            <a:xfrm>
              <a:off x="2176916" y="2663495"/>
              <a:ext cx="3554650" cy="150743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Docker1</a:t>
              </a:r>
            </a:p>
            <a:p>
              <a:pPr algn="ctr"/>
              <a:r>
                <a:rPr lang="en-US" altLang="zh-TW" sz="1600" dirty="0"/>
                <a:t>172.17.0.2 </a:t>
              </a:r>
              <a:endParaRPr lang="zh-TW" altLang="en-US" sz="160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2CE2843-4A58-4CDC-96C5-EEE8943202DA}"/>
                </a:ext>
              </a:extLst>
            </p:cNvPr>
            <p:cNvSpPr/>
            <p:nvPr/>
          </p:nvSpPr>
          <p:spPr>
            <a:xfrm>
              <a:off x="2196782" y="4790660"/>
              <a:ext cx="7912620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dirty="0">
                  <a:solidFill>
                    <a:srgbClr val="FFFF00"/>
                  </a:solidFill>
                </a:rPr>
                <a:t>Docker0</a:t>
              </a:r>
              <a:r>
                <a:rPr lang="zh-TW" altLang="en-US" sz="1600" b="1" dirty="0">
                  <a:solidFill>
                    <a:srgbClr val="FFFF00"/>
                  </a:solidFill>
                </a:rPr>
                <a:t>  </a:t>
              </a:r>
              <a:r>
                <a:rPr lang="en-US" altLang="zh-TW" sz="1600" b="1" dirty="0">
                  <a:solidFill>
                    <a:srgbClr val="FFFF00"/>
                  </a:solidFill>
                </a:rPr>
                <a:t>172.17.0.0/16</a:t>
              </a:r>
              <a:endParaRPr lang="zh-TW" altLang="en-US" sz="1600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B3B4BF2-B798-4A47-93BC-C774F65C51E6}"/>
                </a:ext>
              </a:extLst>
            </p:cNvPr>
            <p:cNvSpPr/>
            <p:nvPr/>
          </p:nvSpPr>
          <p:spPr>
            <a:xfrm>
              <a:off x="3373205" y="4436034"/>
              <a:ext cx="1162067" cy="33793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veth</a:t>
              </a:r>
              <a:endParaRPr lang="zh-TW" altLang="en-US" sz="160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FE5B423-542D-4ACD-AA5D-E1B62EF11FAC}"/>
                </a:ext>
              </a:extLst>
            </p:cNvPr>
            <p:cNvSpPr/>
            <p:nvPr/>
          </p:nvSpPr>
          <p:spPr>
            <a:xfrm>
              <a:off x="3373206" y="3856187"/>
              <a:ext cx="1162067" cy="33793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eth0</a:t>
              </a:r>
              <a:endParaRPr lang="zh-TW" altLang="en-US" sz="1600" dirty="0"/>
            </a:p>
          </p:txBody>
        </p: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EA5F9634-C762-4D69-8352-F550743BE020}"/>
                </a:ext>
              </a:extLst>
            </p:cNvPr>
            <p:cNvCxnSpPr>
              <a:cxnSpLocks/>
              <a:stCxn id="26" idx="2"/>
              <a:endCxn id="25" idx="0"/>
            </p:cNvCxnSpPr>
            <p:nvPr/>
          </p:nvCxnSpPr>
          <p:spPr>
            <a:xfrm flipH="1">
              <a:off x="3954239" y="4194118"/>
              <a:ext cx="2" cy="241916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5E68C988-9B66-4BEA-8DB5-1D354646B714}"/>
                </a:ext>
              </a:extLst>
            </p:cNvPr>
            <p:cNvSpPr/>
            <p:nvPr/>
          </p:nvSpPr>
          <p:spPr>
            <a:xfrm>
              <a:off x="5468563" y="5526156"/>
              <a:ext cx="1254874" cy="357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eth0</a:t>
              </a:r>
              <a:endParaRPr lang="zh-TW" altLang="en-US" sz="1600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3C801CD0-21E9-44DE-BA3C-921C2F9D2499}"/>
                </a:ext>
              </a:extLst>
            </p:cNvPr>
            <p:cNvSpPr txBox="1"/>
            <p:nvPr/>
          </p:nvSpPr>
          <p:spPr>
            <a:xfrm>
              <a:off x="5468563" y="2114374"/>
              <a:ext cx="32732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chemeClr val="bg1"/>
                  </a:solidFill>
                </a:rPr>
                <a:t>Node</a:t>
              </a:r>
              <a:endParaRPr lang="zh-TW" alt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1A1540D9-D558-475D-89AE-A74120E350A0}"/>
              </a:ext>
            </a:extLst>
          </p:cNvPr>
          <p:cNvSpPr/>
          <p:nvPr/>
        </p:nvSpPr>
        <p:spPr>
          <a:xfrm>
            <a:off x="3084968" y="3877098"/>
            <a:ext cx="2200749" cy="121168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Docker2</a:t>
            </a:r>
          </a:p>
          <a:p>
            <a:pPr algn="ctr"/>
            <a:r>
              <a:rPr lang="en-US" altLang="zh-TW" sz="1600" dirty="0"/>
              <a:t>172.17.0.3 </a:t>
            </a:r>
            <a:endParaRPr lang="zh-TW" altLang="en-US" sz="16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FDF34B-8B32-4C4B-BFAC-46FB76625055}"/>
              </a:ext>
            </a:extLst>
          </p:cNvPr>
          <p:cNvSpPr/>
          <p:nvPr/>
        </p:nvSpPr>
        <p:spPr>
          <a:xfrm>
            <a:off x="3825612" y="5301879"/>
            <a:ext cx="719457" cy="2716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veth</a:t>
            </a:r>
            <a:endParaRPr lang="zh-TW" altLang="en-US" sz="1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C9D18D3-22CD-415E-923A-EA4139ED0840}"/>
              </a:ext>
            </a:extLst>
          </p:cNvPr>
          <p:cNvSpPr/>
          <p:nvPr/>
        </p:nvSpPr>
        <p:spPr>
          <a:xfrm>
            <a:off x="3825613" y="4835793"/>
            <a:ext cx="719457" cy="2716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eth0</a:t>
            </a:r>
            <a:endParaRPr lang="zh-TW" altLang="en-US" sz="1600" dirty="0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41467835-361F-4C8C-AD36-848CE9CE3A41}"/>
              </a:ext>
            </a:extLst>
          </p:cNvPr>
          <p:cNvCxnSpPr>
            <a:cxnSpLocks/>
            <a:stCxn id="32" idx="2"/>
            <a:endCxn id="31" idx="0"/>
          </p:cNvCxnSpPr>
          <p:nvPr/>
        </p:nvCxnSpPr>
        <p:spPr>
          <a:xfrm flipH="1">
            <a:off x="4185341" y="5107425"/>
            <a:ext cx="1" cy="19445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3FE70239-5E94-48FC-8A9D-E3C0B9146E51}"/>
              </a:ext>
            </a:extLst>
          </p:cNvPr>
          <p:cNvSpPr/>
          <p:nvPr/>
        </p:nvSpPr>
        <p:spPr>
          <a:xfrm>
            <a:off x="5645445" y="4300290"/>
            <a:ext cx="927438" cy="1071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29E157C-DD4D-4F64-BA7C-09F904841F64}"/>
              </a:ext>
            </a:extLst>
          </p:cNvPr>
          <p:cNvSpPr/>
          <p:nvPr/>
        </p:nvSpPr>
        <p:spPr>
          <a:xfrm>
            <a:off x="10123222" y="2837794"/>
            <a:ext cx="1837550" cy="38993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A30FCF7-2872-4698-9FFE-45959854694B}"/>
              </a:ext>
            </a:extLst>
          </p:cNvPr>
          <p:cNvSpPr/>
          <p:nvPr/>
        </p:nvSpPr>
        <p:spPr>
          <a:xfrm>
            <a:off x="6853675" y="4140522"/>
            <a:ext cx="1565421" cy="1377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Flannel</a:t>
            </a:r>
          </a:p>
          <a:p>
            <a:pPr algn="ctr"/>
            <a:r>
              <a:rPr lang="en-US" altLang="zh-TW" dirty="0"/>
              <a:t>172.17.0.0/16</a:t>
            </a:r>
            <a:endParaRPr lang="zh-TW" altLang="en-US" dirty="0"/>
          </a:p>
        </p:txBody>
      </p: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1B037C03-A760-4E33-8722-3A8A08696D95}"/>
              </a:ext>
            </a:extLst>
          </p:cNvPr>
          <p:cNvCxnSpPr>
            <a:cxnSpLocks/>
          </p:cNvCxnSpPr>
          <p:nvPr/>
        </p:nvCxnSpPr>
        <p:spPr>
          <a:xfrm flipV="1">
            <a:off x="8419096" y="2836951"/>
            <a:ext cx="1704126" cy="1303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41D6016A-3CE4-4288-A4B7-AC0A5D12CD7F}"/>
              </a:ext>
            </a:extLst>
          </p:cNvPr>
          <p:cNvCxnSpPr>
            <a:cxnSpLocks/>
          </p:cNvCxnSpPr>
          <p:nvPr/>
        </p:nvCxnSpPr>
        <p:spPr>
          <a:xfrm>
            <a:off x="8419096" y="5517644"/>
            <a:ext cx="1704126" cy="1219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169856B5-4F56-434A-8703-27533C97EAF8}"/>
              </a:ext>
            </a:extLst>
          </p:cNvPr>
          <p:cNvSpPr/>
          <p:nvPr/>
        </p:nvSpPr>
        <p:spPr>
          <a:xfrm>
            <a:off x="10123222" y="4073435"/>
            <a:ext cx="1837550" cy="577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 N</a:t>
            </a:r>
          </a:p>
          <a:p>
            <a:pPr algn="ctr"/>
            <a:r>
              <a:rPr lang="en-US" altLang="zh-TW" dirty="0"/>
              <a:t>172.17.57.0/24</a:t>
            </a:r>
            <a:endParaRPr lang="zh-TW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C851B04-C03B-4402-B050-1779B9497C20}"/>
              </a:ext>
            </a:extLst>
          </p:cNvPr>
          <p:cNvSpPr/>
          <p:nvPr/>
        </p:nvSpPr>
        <p:spPr>
          <a:xfrm>
            <a:off x="10123222" y="6172975"/>
            <a:ext cx="1837550" cy="577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 N+K</a:t>
            </a:r>
          </a:p>
          <a:p>
            <a:pPr algn="ctr"/>
            <a:r>
              <a:rPr lang="en-US" altLang="zh-TW" dirty="0"/>
              <a:t>172.17.99.0/24</a:t>
            </a:r>
            <a:endParaRPr lang="zh-TW" altLang="en-US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64CB9F9-5DB1-4118-ADA8-CED6B2EA7F13}"/>
              </a:ext>
            </a:extLst>
          </p:cNvPr>
          <p:cNvSpPr/>
          <p:nvPr/>
        </p:nvSpPr>
        <p:spPr>
          <a:xfrm>
            <a:off x="10123222" y="4650950"/>
            <a:ext cx="1837550" cy="577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 N+1</a:t>
            </a:r>
          </a:p>
          <a:p>
            <a:pPr algn="ctr"/>
            <a:r>
              <a:rPr lang="en-US" altLang="zh-TW" dirty="0"/>
              <a:t>172.17.58.0/24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4395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CA574-6828-4D17-9A92-E348DD1C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Flannel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41E584-D7B8-4044-8303-6D884D11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10509193" cy="549338"/>
          </a:xfrm>
        </p:spPr>
        <p:txBody>
          <a:bodyPr>
            <a:noAutofit/>
          </a:bodyPr>
          <a:lstStyle/>
          <a:p>
            <a:r>
              <a:rPr lang="zh-TW" altLang="en-US" sz="1600" dirty="0"/>
              <a:t>虛擬網路間衝突如何解決，</a:t>
            </a:r>
            <a:r>
              <a:rPr lang="en-US" altLang="zh-TW" sz="1600" dirty="0"/>
              <a:t>Google</a:t>
            </a:r>
            <a:r>
              <a:rPr lang="zh-TW" altLang="en-US" sz="1600" dirty="0"/>
              <a:t>的指導意見是將</a:t>
            </a:r>
            <a:r>
              <a:rPr lang="en-US" altLang="zh-TW" sz="1600" dirty="0"/>
              <a:t>”</a:t>
            </a:r>
            <a:r>
              <a:rPr lang="zh-TW" altLang="en-US" sz="1600" dirty="0"/>
              <a:t>網路鋪平</a:t>
            </a:r>
            <a:r>
              <a:rPr lang="en-US" altLang="zh-TW" sz="1600" dirty="0"/>
              <a:t>”</a:t>
            </a:r>
          </a:p>
          <a:p>
            <a:r>
              <a:rPr lang="zh-TW" altLang="en-US" sz="1600" dirty="0">
                <a:highlight>
                  <a:srgbClr val="FFFF00"/>
                </a:highlight>
              </a:rPr>
              <a:t>原本</a:t>
            </a:r>
            <a:r>
              <a:rPr lang="en-US" altLang="zh-TW" sz="1600" dirty="0">
                <a:highlight>
                  <a:srgbClr val="FFFF00"/>
                </a:highlight>
              </a:rPr>
              <a:t>Docker</a:t>
            </a:r>
            <a:r>
              <a:rPr lang="zh-TW" altLang="en-US" sz="1600" dirty="0">
                <a:highlight>
                  <a:srgbClr val="FFFF00"/>
                </a:highlight>
              </a:rPr>
              <a:t>網段是</a:t>
            </a:r>
            <a:r>
              <a:rPr lang="en-US" altLang="zh-TW" sz="1600" dirty="0">
                <a:highlight>
                  <a:srgbClr val="FFFF00"/>
                </a:highlight>
              </a:rPr>
              <a:t>172.17.0.0/16</a:t>
            </a:r>
            <a:r>
              <a:rPr lang="zh-TW" altLang="en-US" sz="1600" dirty="0">
                <a:highlight>
                  <a:srgbClr val="FFFF00"/>
                </a:highlight>
              </a:rPr>
              <a:t>這個網段太大了，可以放下</a:t>
            </a:r>
            <a:r>
              <a:rPr lang="en-US" altLang="zh-TW" sz="1600" dirty="0">
                <a:highlight>
                  <a:srgbClr val="FFFF00"/>
                </a:highlight>
              </a:rPr>
              <a:t>2</a:t>
            </a:r>
            <a:r>
              <a:rPr lang="zh-TW" altLang="en-US" sz="1600" dirty="0">
                <a:highlight>
                  <a:srgbClr val="FFFF00"/>
                </a:highlight>
              </a:rPr>
              <a:t>的</a:t>
            </a:r>
            <a:r>
              <a:rPr lang="en-US" altLang="zh-TW" sz="1600" dirty="0">
                <a:highlight>
                  <a:srgbClr val="FFFF00"/>
                </a:highlight>
              </a:rPr>
              <a:t>16</a:t>
            </a:r>
            <a:r>
              <a:rPr lang="zh-TW" altLang="en-US" sz="1600" dirty="0">
                <a:highlight>
                  <a:srgbClr val="FFFF00"/>
                </a:highlight>
              </a:rPr>
              <a:t>次方個應用，根本沒有</a:t>
            </a:r>
            <a:r>
              <a:rPr lang="en-US" altLang="zh-TW" sz="1600" dirty="0">
                <a:highlight>
                  <a:srgbClr val="FFFF00"/>
                </a:highlight>
              </a:rPr>
              <a:t>node</a:t>
            </a:r>
            <a:r>
              <a:rPr lang="zh-TW" altLang="en-US" sz="1600" dirty="0">
                <a:highlight>
                  <a:srgbClr val="FFFF00"/>
                </a:highlight>
              </a:rPr>
              <a:t>可以擺下那麼多應用</a:t>
            </a:r>
            <a:endParaRPr lang="en-US" altLang="zh-TW" sz="1600" dirty="0">
              <a:highlight>
                <a:srgbClr val="FFFF00"/>
              </a:highlight>
            </a:endParaRPr>
          </a:p>
          <a:p>
            <a:r>
              <a:rPr lang="en-US" altLang="zh-TW" sz="1600" dirty="0"/>
              <a:t>Flannel</a:t>
            </a:r>
            <a:r>
              <a:rPr lang="zh-TW" altLang="en-US" sz="1600" dirty="0"/>
              <a:t>將原本</a:t>
            </a:r>
            <a:r>
              <a:rPr lang="en-US" altLang="zh-TW" sz="1600" dirty="0"/>
              <a:t>/16</a:t>
            </a:r>
            <a:r>
              <a:rPr lang="zh-TW" altLang="en-US" sz="1600" dirty="0"/>
              <a:t>的網段映射成數個不衝突</a:t>
            </a:r>
            <a:r>
              <a:rPr lang="en-US" altLang="zh-TW" sz="1600" dirty="0"/>
              <a:t>/24</a:t>
            </a:r>
            <a:r>
              <a:rPr lang="zh-TW" altLang="en-US" sz="1600" dirty="0"/>
              <a:t>的網段再分配給每個節點</a:t>
            </a:r>
            <a:endParaRPr lang="en-US" altLang="zh-TW" sz="1600" dirty="0"/>
          </a:p>
          <a:p>
            <a:endParaRPr lang="en-US" altLang="zh-TW" sz="1600" dirty="0"/>
          </a:p>
          <a:p>
            <a:endParaRPr lang="zh-TW" altLang="en-US" sz="1600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0DC3F5FF-2E00-4B6E-A0E5-6316186B8C23}"/>
              </a:ext>
            </a:extLst>
          </p:cNvPr>
          <p:cNvGrpSpPr/>
          <p:nvPr/>
        </p:nvGrpSpPr>
        <p:grpSpPr>
          <a:xfrm>
            <a:off x="157138" y="3429000"/>
            <a:ext cx="5287617" cy="3030027"/>
            <a:chOff x="1825720" y="2114374"/>
            <a:chExt cx="8540560" cy="376959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11A68FC-52B5-4094-8EBA-20B87232B31C}"/>
                </a:ext>
              </a:extLst>
            </p:cNvPr>
            <p:cNvSpPr/>
            <p:nvPr/>
          </p:nvSpPr>
          <p:spPr>
            <a:xfrm>
              <a:off x="1825720" y="2151928"/>
              <a:ext cx="8540560" cy="3732036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1600" dirty="0">
                <a:solidFill>
                  <a:schemeClr val="bg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6F2545C-0994-4485-9AD2-05203270F234}"/>
                </a:ext>
              </a:extLst>
            </p:cNvPr>
            <p:cNvSpPr/>
            <p:nvPr/>
          </p:nvSpPr>
          <p:spPr>
            <a:xfrm>
              <a:off x="2176916" y="2663495"/>
              <a:ext cx="3554650" cy="150743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Docker1</a:t>
              </a:r>
            </a:p>
            <a:p>
              <a:pPr algn="ctr"/>
              <a:r>
                <a:rPr lang="en-US" altLang="zh-TW" sz="1600" dirty="0"/>
                <a:t>172.17.0.2 </a:t>
              </a:r>
              <a:endParaRPr lang="zh-TW" altLang="en-US" sz="160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2CE2843-4A58-4CDC-96C5-EEE8943202DA}"/>
                </a:ext>
              </a:extLst>
            </p:cNvPr>
            <p:cNvSpPr/>
            <p:nvPr/>
          </p:nvSpPr>
          <p:spPr>
            <a:xfrm>
              <a:off x="2196782" y="4790660"/>
              <a:ext cx="7912620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dirty="0">
                  <a:solidFill>
                    <a:srgbClr val="FFFF00"/>
                  </a:solidFill>
                </a:rPr>
                <a:t>Docker0</a:t>
              </a:r>
              <a:r>
                <a:rPr lang="zh-TW" altLang="en-US" sz="1600" b="1" dirty="0">
                  <a:solidFill>
                    <a:srgbClr val="FFFF00"/>
                  </a:solidFill>
                </a:rPr>
                <a:t>  </a:t>
              </a:r>
              <a:r>
                <a:rPr lang="en-US" altLang="zh-TW" sz="1600" b="1" dirty="0">
                  <a:solidFill>
                    <a:srgbClr val="FFFF00"/>
                  </a:solidFill>
                </a:rPr>
                <a:t>172.17.0.0/16</a:t>
              </a:r>
              <a:endParaRPr lang="zh-TW" altLang="en-US" sz="1600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B3B4BF2-B798-4A47-93BC-C774F65C51E6}"/>
                </a:ext>
              </a:extLst>
            </p:cNvPr>
            <p:cNvSpPr/>
            <p:nvPr/>
          </p:nvSpPr>
          <p:spPr>
            <a:xfrm>
              <a:off x="3373205" y="4436034"/>
              <a:ext cx="1162067" cy="33793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veth</a:t>
              </a:r>
              <a:endParaRPr lang="zh-TW" altLang="en-US" sz="160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FE5B423-542D-4ACD-AA5D-E1B62EF11FAC}"/>
                </a:ext>
              </a:extLst>
            </p:cNvPr>
            <p:cNvSpPr/>
            <p:nvPr/>
          </p:nvSpPr>
          <p:spPr>
            <a:xfrm>
              <a:off x="3373206" y="3856187"/>
              <a:ext cx="1162067" cy="33793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eth0</a:t>
              </a:r>
              <a:endParaRPr lang="zh-TW" altLang="en-US" sz="1600" dirty="0"/>
            </a:p>
          </p:txBody>
        </p: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EA5F9634-C762-4D69-8352-F550743BE020}"/>
                </a:ext>
              </a:extLst>
            </p:cNvPr>
            <p:cNvCxnSpPr>
              <a:cxnSpLocks/>
              <a:stCxn id="26" idx="2"/>
              <a:endCxn id="25" idx="0"/>
            </p:cNvCxnSpPr>
            <p:nvPr/>
          </p:nvCxnSpPr>
          <p:spPr>
            <a:xfrm flipH="1">
              <a:off x="3954239" y="4194118"/>
              <a:ext cx="2" cy="241916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5E68C988-9B66-4BEA-8DB5-1D354646B714}"/>
                </a:ext>
              </a:extLst>
            </p:cNvPr>
            <p:cNvSpPr/>
            <p:nvPr/>
          </p:nvSpPr>
          <p:spPr>
            <a:xfrm>
              <a:off x="5468563" y="5526156"/>
              <a:ext cx="1254874" cy="357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eth0</a:t>
              </a:r>
              <a:endParaRPr lang="zh-TW" altLang="en-US" sz="1600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3C801CD0-21E9-44DE-BA3C-921C2F9D2499}"/>
                </a:ext>
              </a:extLst>
            </p:cNvPr>
            <p:cNvSpPr txBox="1"/>
            <p:nvPr/>
          </p:nvSpPr>
          <p:spPr>
            <a:xfrm>
              <a:off x="5468563" y="2114374"/>
              <a:ext cx="32732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chemeClr val="bg1"/>
                  </a:solidFill>
                </a:rPr>
                <a:t>Node</a:t>
              </a:r>
              <a:endParaRPr lang="zh-TW" alt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1A1540D9-D558-475D-89AE-A74120E350A0}"/>
              </a:ext>
            </a:extLst>
          </p:cNvPr>
          <p:cNvSpPr/>
          <p:nvPr/>
        </p:nvSpPr>
        <p:spPr>
          <a:xfrm>
            <a:off x="3084968" y="3877098"/>
            <a:ext cx="2200749" cy="121168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Docker2</a:t>
            </a:r>
          </a:p>
          <a:p>
            <a:pPr algn="ctr"/>
            <a:r>
              <a:rPr lang="en-US" altLang="zh-TW" sz="1600" dirty="0"/>
              <a:t>172.17.0.3 </a:t>
            </a:r>
            <a:endParaRPr lang="zh-TW" altLang="en-US" sz="16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FDF34B-8B32-4C4B-BFAC-46FB76625055}"/>
              </a:ext>
            </a:extLst>
          </p:cNvPr>
          <p:cNvSpPr/>
          <p:nvPr/>
        </p:nvSpPr>
        <p:spPr>
          <a:xfrm>
            <a:off x="3825612" y="5301879"/>
            <a:ext cx="719457" cy="2716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veth</a:t>
            </a:r>
            <a:endParaRPr lang="zh-TW" altLang="en-US" sz="1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C9D18D3-22CD-415E-923A-EA4139ED0840}"/>
              </a:ext>
            </a:extLst>
          </p:cNvPr>
          <p:cNvSpPr/>
          <p:nvPr/>
        </p:nvSpPr>
        <p:spPr>
          <a:xfrm>
            <a:off x="3825613" y="4835793"/>
            <a:ext cx="719457" cy="2716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eth0</a:t>
            </a:r>
            <a:endParaRPr lang="zh-TW" altLang="en-US" sz="1600" dirty="0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41467835-361F-4C8C-AD36-848CE9CE3A41}"/>
              </a:ext>
            </a:extLst>
          </p:cNvPr>
          <p:cNvCxnSpPr>
            <a:cxnSpLocks/>
            <a:stCxn id="32" idx="2"/>
            <a:endCxn id="31" idx="0"/>
          </p:cNvCxnSpPr>
          <p:nvPr/>
        </p:nvCxnSpPr>
        <p:spPr>
          <a:xfrm flipH="1">
            <a:off x="4185341" y="5107425"/>
            <a:ext cx="1" cy="19445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3FE70239-5E94-48FC-8A9D-E3C0B9146E51}"/>
              </a:ext>
            </a:extLst>
          </p:cNvPr>
          <p:cNvSpPr/>
          <p:nvPr/>
        </p:nvSpPr>
        <p:spPr>
          <a:xfrm>
            <a:off x="5645445" y="4300290"/>
            <a:ext cx="927438" cy="1071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29E157C-DD4D-4F64-BA7C-09F904841F64}"/>
              </a:ext>
            </a:extLst>
          </p:cNvPr>
          <p:cNvSpPr/>
          <p:nvPr/>
        </p:nvSpPr>
        <p:spPr>
          <a:xfrm>
            <a:off x="10123222" y="2837794"/>
            <a:ext cx="1837550" cy="38993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A30FCF7-2872-4698-9FFE-45959854694B}"/>
              </a:ext>
            </a:extLst>
          </p:cNvPr>
          <p:cNvSpPr/>
          <p:nvPr/>
        </p:nvSpPr>
        <p:spPr>
          <a:xfrm>
            <a:off x="6853675" y="4140522"/>
            <a:ext cx="1565421" cy="1377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Flannel</a:t>
            </a:r>
          </a:p>
          <a:p>
            <a:pPr algn="ctr"/>
            <a:r>
              <a:rPr lang="en-US" altLang="zh-TW" dirty="0"/>
              <a:t>172.17.0.0/16</a:t>
            </a:r>
            <a:endParaRPr lang="zh-TW" altLang="en-US" dirty="0"/>
          </a:p>
        </p:txBody>
      </p: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1B037C03-A760-4E33-8722-3A8A08696D95}"/>
              </a:ext>
            </a:extLst>
          </p:cNvPr>
          <p:cNvCxnSpPr>
            <a:cxnSpLocks/>
          </p:cNvCxnSpPr>
          <p:nvPr/>
        </p:nvCxnSpPr>
        <p:spPr>
          <a:xfrm flipV="1">
            <a:off x="8419096" y="2836951"/>
            <a:ext cx="1704126" cy="1303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41D6016A-3CE4-4288-A4B7-AC0A5D12CD7F}"/>
              </a:ext>
            </a:extLst>
          </p:cNvPr>
          <p:cNvCxnSpPr>
            <a:cxnSpLocks/>
          </p:cNvCxnSpPr>
          <p:nvPr/>
        </p:nvCxnSpPr>
        <p:spPr>
          <a:xfrm>
            <a:off x="8419096" y="5517644"/>
            <a:ext cx="1704126" cy="1219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169856B5-4F56-434A-8703-27533C97EAF8}"/>
              </a:ext>
            </a:extLst>
          </p:cNvPr>
          <p:cNvSpPr/>
          <p:nvPr/>
        </p:nvSpPr>
        <p:spPr>
          <a:xfrm>
            <a:off x="10123222" y="4073435"/>
            <a:ext cx="1837550" cy="577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 N</a:t>
            </a:r>
          </a:p>
          <a:p>
            <a:pPr algn="ctr"/>
            <a:r>
              <a:rPr lang="en-US" altLang="zh-TW" dirty="0"/>
              <a:t>172.17.57.0/24</a:t>
            </a:r>
            <a:endParaRPr lang="zh-TW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C851B04-C03B-4402-B050-1779B9497C20}"/>
              </a:ext>
            </a:extLst>
          </p:cNvPr>
          <p:cNvSpPr/>
          <p:nvPr/>
        </p:nvSpPr>
        <p:spPr>
          <a:xfrm>
            <a:off x="10123222" y="6172975"/>
            <a:ext cx="1837550" cy="577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 N+K</a:t>
            </a:r>
          </a:p>
          <a:p>
            <a:pPr algn="ctr"/>
            <a:r>
              <a:rPr lang="en-US" altLang="zh-TW" dirty="0"/>
              <a:t>172.17.99.0/24</a:t>
            </a:r>
            <a:endParaRPr lang="zh-TW" altLang="en-US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64CB9F9-5DB1-4118-ADA8-CED6B2EA7F13}"/>
              </a:ext>
            </a:extLst>
          </p:cNvPr>
          <p:cNvSpPr/>
          <p:nvPr/>
        </p:nvSpPr>
        <p:spPr>
          <a:xfrm>
            <a:off x="10123222" y="4650950"/>
            <a:ext cx="1837550" cy="577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 N+1</a:t>
            </a:r>
          </a:p>
          <a:p>
            <a:pPr algn="ctr"/>
            <a:r>
              <a:rPr lang="en-US" altLang="zh-TW" dirty="0"/>
              <a:t>172.17.58.0/24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65454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CA574-6828-4D17-9A92-E348DD1C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Flannel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41E584-D7B8-4044-8303-6D884D113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10509193" cy="549338"/>
          </a:xfrm>
        </p:spPr>
        <p:txBody>
          <a:bodyPr>
            <a:noAutofit/>
          </a:bodyPr>
          <a:lstStyle/>
          <a:p>
            <a:r>
              <a:rPr lang="zh-TW" altLang="en-US" sz="1600" dirty="0"/>
              <a:t>虛擬網路間衝突如何解決，</a:t>
            </a:r>
            <a:r>
              <a:rPr lang="en-US" altLang="zh-TW" sz="1600" dirty="0"/>
              <a:t>Google</a:t>
            </a:r>
            <a:r>
              <a:rPr lang="zh-TW" altLang="en-US" sz="1600" dirty="0"/>
              <a:t>的指導意見是將</a:t>
            </a:r>
            <a:r>
              <a:rPr lang="en-US" altLang="zh-TW" sz="1600" dirty="0"/>
              <a:t>”</a:t>
            </a:r>
            <a:r>
              <a:rPr lang="zh-TW" altLang="en-US" sz="1600" dirty="0"/>
              <a:t>網路鋪平</a:t>
            </a:r>
            <a:r>
              <a:rPr lang="en-US" altLang="zh-TW" sz="1600" dirty="0"/>
              <a:t>”</a:t>
            </a:r>
          </a:p>
          <a:p>
            <a:r>
              <a:rPr lang="zh-TW" altLang="en-US" sz="1600" dirty="0"/>
              <a:t>原本</a:t>
            </a:r>
            <a:r>
              <a:rPr lang="en-US" altLang="zh-TW" sz="1600" dirty="0"/>
              <a:t>Docker</a:t>
            </a:r>
            <a:r>
              <a:rPr lang="zh-TW" altLang="en-US" sz="1600" dirty="0"/>
              <a:t>網段是</a:t>
            </a:r>
            <a:r>
              <a:rPr lang="en-US" altLang="zh-TW" sz="1600" dirty="0"/>
              <a:t>172.17.0.0/16</a:t>
            </a:r>
            <a:r>
              <a:rPr lang="zh-TW" altLang="en-US" sz="1600" dirty="0"/>
              <a:t>這個網段太大了，可以放下</a:t>
            </a:r>
            <a:r>
              <a:rPr lang="en-US" altLang="zh-TW" sz="1600" dirty="0"/>
              <a:t>2</a:t>
            </a:r>
            <a:r>
              <a:rPr lang="zh-TW" altLang="en-US" sz="1600" dirty="0"/>
              <a:t>的</a:t>
            </a:r>
            <a:r>
              <a:rPr lang="en-US" altLang="zh-TW" sz="1600" dirty="0"/>
              <a:t>16</a:t>
            </a:r>
            <a:r>
              <a:rPr lang="zh-TW" altLang="en-US" sz="1600" dirty="0"/>
              <a:t>次方個應用，根本沒有</a:t>
            </a:r>
            <a:r>
              <a:rPr lang="en-US" altLang="zh-TW" sz="1600" dirty="0"/>
              <a:t>node</a:t>
            </a:r>
            <a:r>
              <a:rPr lang="zh-TW" altLang="en-US" sz="1600" dirty="0"/>
              <a:t>可以擺下那麼多應用</a:t>
            </a:r>
            <a:endParaRPr lang="en-US" altLang="zh-TW" sz="1600" dirty="0"/>
          </a:p>
          <a:p>
            <a:r>
              <a:rPr lang="en-US" altLang="zh-TW" sz="1600" dirty="0"/>
              <a:t>Flannel</a:t>
            </a:r>
            <a:r>
              <a:rPr lang="zh-TW" altLang="en-US" sz="1600" dirty="0"/>
              <a:t>將原本</a:t>
            </a:r>
            <a:r>
              <a:rPr lang="en-US" altLang="zh-TW" sz="1600" dirty="0">
                <a:highlight>
                  <a:srgbClr val="FFFF00"/>
                </a:highlight>
              </a:rPr>
              <a:t>/16</a:t>
            </a:r>
            <a:r>
              <a:rPr lang="zh-TW" altLang="en-US" sz="1600" dirty="0">
                <a:highlight>
                  <a:srgbClr val="FFFF00"/>
                </a:highlight>
              </a:rPr>
              <a:t>的網段映射成數個不衝突</a:t>
            </a:r>
            <a:r>
              <a:rPr lang="en-US" altLang="zh-TW" sz="1600" dirty="0">
                <a:highlight>
                  <a:srgbClr val="FFFF00"/>
                </a:highlight>
              </a:rPr>
              <a:t>/24</a:t>
            </a:r>
            <a:r>
              <a:rPr lang="zh-TW" altLang="en-US" sz="1600" dirty="0">
                <a:highlight>
                  <a:srgbClr val="FFFF00"/>
                </a:highlight>
              </a:rPr>
              <a:t>的網段再分配給每個節點</a:t>
            </a:r>
            <a:endParaRPr lang="en-US" altLang="zh-TW" sz="1600" dirty="0">
              <a:highlight>
                <a:srgbClr val="FFFF00"/>
              </a:highlight>
            </a:endParaRPr>
          </a:p>
          <a:p>
            <a:endParaRPr lang="en-US" altLang="zh-TW" sz="1600" dirty="0"/>
          </a:p>
          <a:p>
            <a:endParaRPr lang="zh-TW" altLang="en-US" sz="1600" dirty="0"/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0DC3F5FF-2E00-4B6E-A0E5-6316186B8C23}"/>
              </a:ext>
            </a:extLst>
          </p:cNvPr>
          <p:cNvGrpSpPr/>
          <p:nvPr/>
        </p:nvGrpSpPr>
        <p:grpSpPr>
          <a:xfrm>
            <a:off x="157138" y="3429000"/>
            <a:ext cx="5287617" cy="3030027"/>
            <a:chOff x="1825720" y="2114374"/>
            <a:chExt cx="8540560" cy="376959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11A68FC-52B5-4094-8EBA-20B87232B31C}"/>
                </a:ext>
              </a:extLst>
            </p:cNvPr>
            <p:cNvSpPr/>
            <p:nvPr/>
          </p:nvSpPr>
          <p:spPr>
            <a:xfrm>
              <a:off x="1825720" y="2151928"/>
              <a:ext cx="8540560" cy="3732036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TW" sz="1600" dirty="0">
                <a:solidFill>
                  <a:schemeClr val="bg1"/>
                </a:solidFill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6F2545C-0994-4485-9AD2-05203270F234}"/>
                </a:ext>
              </a:extLst>
            </p:cNvPr>
            <p:cNvSpPr/>
            <p:nvPr/>
          </p:nvSpPr>
          <p:spPr>
            <a:xfrm>
              <a:off x="2176916" y="2663495"/>
              <a:ext cx="3554650" cy="150743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Docker1</a:t>
              </a:r>
            </a:p>
            <a:p>
              <a:pPr algn="ctr"/>
              <a:r>
                <a:rPr lang="en-US" altLang="zh-TW" sz="1600" dirty="0"/>
                <a:t>172.17.0.2 </a:t>
              </a:r>
              <a:endParaRPr lang="zh-TW" altLang="en-US" sz="1600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2CE2843-4A58-4CDC-96C5-EEE8943202DA}"/>
                </a:ext>
              </a:extLst>
            </p:cNvPr>
            <p:cNvSpPr/>
            <p:nvPr/>
          </p:nvSpPr>
          <p:spPr>
            <a:xfrm>
              <a:off x="2196782" y="4790660"/>
              <a:ext cx="7912620" cy="43732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b="1" dirty="0">
                  <a:solidFill>
                    <a:srgbClr val="FFFF00"/>
                  </a:solidFill>
                </a:rPr>
                <a:t>Docker0</a:t>
              </a:r>
              <a:r>
                <a:rPr lang="zh-TW" altLang="en-US" sz="1600" b="1" dirty="0">
                  <a:solidFill>
                    <a:srgbClr val="FFFF00"/>
                  </a:solidFill>
                </a:rPr>
                <a:t>  </a:t>
              </a:r>
              <a:r>
                <a:rPr lang="en-US" altLang="zh-TW" sz="1600" b="1" dirty="0">
                  <a:solidFill>
                    <a:srgbClr val="FFFF00"/>
                  </a:solidFill>
                </a:rPr>
                <a:t>172.17.0.0/16</a:t>
              </a:r>
              <a:endParaRPr lang="zh-TW" altLang="en-US" sz="1600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B3B4BF2-B798-4A47-93BC-C774F65C51E6}"/>
                </a:ext>
              </a:extLst>
            </p:cNvPr>
            <p:cNvSpPr/>
            <p:nvPr/>
          </p:nvSpPr>
          <p:spPr>
            <a:xfrm>
              <a:off x="3373205" y="4436034"/>
              <a:ext cx="1162067" cy="33793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veth</a:t>
              </a:r>
              <a:endParaRPr lang="zh-TW" altLang="en-US" sz="1600" dirty="0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FE5B423-542D-4ACD-AA5D-E1B62EF11FAC}"/>
                </a:ext>
              </a:extLst>
            </p:cNvPr>
            <p:cNvSpPr/>
            <p:nvPr/>
          </p:nvSpPr>
          <p:spPr>
            <a:xfrm>
              <a:off x="3373206" y="3856187"/>
              <a:ext cx="1162067" cy="337931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eth0</a:t>
              </a:r>
              <a:endParaRPr lang="zh-TW" altLang="en-US" sz="1600" dirty="0"/>
            </a:p>
          </p:txBody>
        </p: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EA5F9634-C762-4D69-8352-F550743BE020}"/>
                </a:ext>
              </a:extLst>
            </p:cNvPr>
            <p:cNvCxnSpPr>
              <a:cxnSpLocks/>
              <a:stCxn id="26" idx="2"/>
              <a:endCxn id="25" idx="0"/>
            </p:cNvCxnSpPr>
            <p:nvPr/>
          </p:nvCxnSpPr>
          <p:spPr>
            <a:xfrm flipH="1">
              <a:off x="3954239" y="4194118"/>
              <a:ext cx="2" cy="241916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5E68C988-9B66-4BEA-8DB5-1D354646B714}"/>
                </a:ext>
              </a:extLst>
            </p:cNvPr>
            <p:cNvSpPr/>
            <p:nvPr/>
          </p:nvSpPr>
          <p:spPr>
            <a:xfrm>
              <a:off x="5468563" y="5526156"/>
              <a:ext cx="1254874" cy="35780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600" dirty="0"/>
                <a:t>eth0</a:t>
              </a:r>
              <a:endParaRPr lang="zh-TW" altLang="en-US" sz="1600" dirty="0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3C801CD0-21E9-44DE-BA3C-921C2F9D2499}"/>
                </a:ext>
              </a:extLst>
            </p:cNvPr>
            <p:cNvSpPr txBox="1"/>
            <p:nvPr/>
          </p:nvSpPr>
          <p:spPr>
            <a:xfrm>
              <a:off x="5468563" y="2114374"/>
              <a:ext cx="32732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solidFill>
                    <a:schemeClr val="bg1"/>
                  </a:solidFill>
                </a:rPr>
                <a:t>Node</a:t>
              </a:r>
              <a:endParaRPr lang="zh-TW" alt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1A1540D9-D558-475D-89AE-A74120E350A0}"/>
              </a:ext>
            </a:extLst>
          </p:cNvPr>
          <p:cNvSpPr/>
          <p:nvPr/>
        </p:nvSpPr>
        <p:spPr>
          <a:xfrm>
            <a:off x="3084968" y="3877098"/>
            <a:ext cx="2200749" cy="121168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Docker2</a:t>
            </a:r>
          </a:p>
          <a:p>
            <a:pPr algn="ctr"/>
            <a:r>
              <a:rPr lang="en-US" altLang="zh-TW" sz="1600" dirty="0"/>
              <a:t>172.17.0.3 </a:t>
            </a:r>
            <a:endParaRPr lang="zh-TW" altLang="en-US" sz="16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FDF34B-8B32-4C4B-BFAC-46FB76625055}"/>
              </a:ext>
            </a:extLst>
          </p:cNvPr>
          <p:cNvSpPr/>
          <p:nvPr/>
        </p:nvSpPr>
        <p:spPr>
          <a:xfrm>
            <a:off x="3825612" y="5301879"/>
            <a:ext cx="719457" cy="2716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veth</a:t>
            </a:r>
            <a:endParaRPr lang="zh-TW" altLang="en-US" sz="1600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C9D18D3-22CD-415E-923A-EA4139ED0840}"/>
              </a:ext>
            </a:extLst>
          </p:cNvPr>
          <p:cNvSpPr/>
          <p:nvPr/>
        </p:nvSpPr>
        <p:spPr>
          <a:xfrm>
            <a:off x="3825613" y="4835793"/>
            <a:ext cx="719457" cy="2716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eth0</a:t>
            </a:r>
            <a:endParaRPr lang="zh-TW" altLang="en-US" sz="1600" dirty="0"/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41467835-361F-4C8C-AD36-848CE9CE3A41}"/>
              </a:ext>
            </a:extLst>
          </p:cNvPr>
          <p:cNvCxnSpPr>
            <a:cxnSpLocks/>
            <a:stCxn id="32" idx="2"/>
            <a:endCxn id="31" idx="0"/>
          </p:cNvCxnSpPr>
          <p:nvPr/>
        </p:nvCxnSpPr>
        <p:spPr>
          <a:xfrm flipH="1">
            <a:off x="4185341" y="5107425"/>
            <a:ext cx="1" cy="19445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3FE70239-5E94-48FC-8A9D-E3C0B9146E51}"/>
              </a:ext>
            </a:extLst>
          </p:cNvPr>
          <p:cNvSpPr/>
          <p:nvPr/>
        </p:nvSpPr>
        <p:spPr>
          <a:xfrm>
            <a:off x="5645445" y="4300290"/>
            <a:ext cx="927438" cy="10710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29E157C-DD4D-4F64-BA7C-09F904841F64}"/>
              </a:ext>
            </a:extLst>
          </p:cNvPr>
          <p:cNvSpPr/>
          <p:nvPr/>
        </p:nvSpPr>
        <p:spPr>
          <a:xfrm>
            <a:off x="10123222" y="2837794"/>
            <a:ext cx="1837550" cy="38993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A30FCF7-2872-4698-9FFE-45959854694B}"/>
              </a:ext>
            </a:extLst>
          </p:cNvPr>
          <p:cNvSpPr/>
          <p:nvPr/>
        </p:nvSpPr>
        <p:spPr>
          <a:xfrm>
            <a:off x="6853675" y="4140522"/>
            <a:ext cx="1565421" cy="13771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Flannel</a:t>
            </a:r>
          </a:p>
          <a:p>
            <a:pPr algn="ctr"/>
            <a:r>
              <a:rPr lang="en-US" altLang="zh-TW" dirty="0"/>
              <a:t>172.17.0.0/16</a:t>
            </a:r>
            <a:endParaRPr lang="zh-TW" altLang="en-US" dirty="0"/>
          </a:p>
        </p:txBody>
      </p: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1B037C03-A760-4E33-8722-3A8A08696D95}"/>
              </a:ext>
            </a:extLst>
          </p:cNvPr>
          <p:cNvCxnSpPr>
            <a:cxnSpLocks/>
          </p:cNvCxnSpPr>
          <p:nvPr/>
        </p:nvCxnSpPr>
        <p:spPr>
          <a:xfrm flipV="1">
            <a:off x="8419096" y="2836951"/>
            <a:ext cx="1704126" cy="1303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41D6016A-3CE4-4288-A4B7-AC0A5D12CD7F}"/>
              </a:ext>
            </a:extLst>
          </p:cNvPr>
          <p:cNvCxnSpPr>
            <a:cxnSpLocks/>
          </p:cNvCxnSpPr>
          <p:nvPr/>
        </p:nvCxnSpPr>
        <p:spPr>
          <a:xfrm>
            <a:off x="8419096" y="5517644"/>
            <a:ext cx="1704126" cy="12194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169856B5-4F56-434A-8703-27533C97EAF8}"/>
              </a:ext>
            </a:extLst>
          </p:cNvPr>
          <p:cNvSpPr/>
          <p:nvPr/>
        </p:nvSpPr>
        <p:spPr>
          <a:xfrm>
            <a:off x="10123222" y="4073435"/>
            <a:ext cx="1837550" cy="577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 N</a:t>
            </a:r>
          </a:p>
          <a:p>
            <a:pPr algn="ctr"/>
            <a:r>
              <a:rPr lang="en-US" altLang="zh-TW" dirty="0"/>
              <a:t>172.17.57.0/24</a:t>
            </a:r>
            <a:endParaRPr lang="zh-TW" altLang="en-US" dirty="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C851B04-C03B-4402-B050-1779B9497C20}"/>
              </a:ext>
            </a:extLst>
          </p:cNvPr>
          <p:cNvSpPr/>
          <p:nvPr/>
        </p:nvSpPr>
        <p:spPr>
          <a:xfrm>
            <a:off x="10123222" y="6172975"/>
            <a:ext cx="1837550" cy="577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 N+K</a:t>
            </a:r>
          </a:p>
          <a:p>
            <a:pPr algn="ctr"/>
            <a:r>
              <a:rPr lang="en-US" altLang="zh-TW" dirty="0"/>
              <a:t>172.17.99.0/24</a:t>
            </a:r>
            <a:endParaRPr lang="zh-TW" altLang="en-US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64CB9F9-5DB1-4118-ADA8-CED6B2EA7F13}"/>
              </a:ext>
            </a:extLst>
          </p:cNvPr>
          <p:cNvSpPr/>
          <p:nvPr/>
        </p:nvSpPr>
        <p:spPr>
          <a:xfrm>
            <a:off x="10123222" y="4650950"/>
            <a:ext cx="1837550" cy="5775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Node N+1</a:t>
            </a:r>
          </a:p>
          <a:p>
            <a:pPr algn="ctr"/>
            <a:r>
              <a:rPr lang="en-US" altLang="zh-TW" dirty="0"/>
              <a:t>172.17.58.0/24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5012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CA574-6828-4D17-9A92-E348DD1C6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altLang="zh-TW" dirty="0"/>
              <a:t>CNI : Flannel  </a:t>
            </a:r>
            <a:endParaRPr lang="zh-TW" altLang="en-US" dirty="0"/>
          </a:p>
        </p:txBody>
      </p:sp>
      <p:pic>
        <p:nvPicPr>
          <p:cNvPr id="5" name="內容版面配置區 4" descr="一張含有 地圖, 文字 的圖片&#10;&#10;自動產生的描述">
            <a:extLst>
              <a:ext uri="{FF2B5EF4-FFF2-40B4-BE49-F238E27FC236}">
                <a16:creationId xmlns:a16="http://schemas.microsoft.com/office/drawing/2014/main" id="{9BDB50BD-CDD5-4F96-9E2D-26A28B5B3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006" y="1985342"/>
            <a:ext cx="6080800" cy="3956928"/>
          </a:xfrm>
        </p:spPr>
      </p:pic>
    </p:spTree>
    <p:extLst>
      <p:ext uri="{BB962C8B-B14F-4D97-AF65-F5344CB8AC3E}">
        <p14:creationId xmlns:p14="http://schemas.microsoft.com/office/powerpoint/2010/main" val="17520666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CCD04D-A8D6-44A6-9738-A45237BA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CNI : Flannel 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8370B2F-F591-494D-A708-9B0258B3C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638" y="3212757"/>
            <a:ext cx="2840724" cy="2840724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90597F3-D6A6-4725-B481-93BBDC4289AA}"/>
              </a:ext>
            </a:extLst>
          </p:cNvPr>
          <p:cNvSpPr/>
          <p:nvPr/>
        </p:nvSpPr>
        <p:spPr>
          <a:xfrm>
            <a:off x="1451579" y="2348589"/>
            <a:ext cx="100781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如用</a:t>
            </a:r>
            <a:r>
              <a:rPr lang="en-US" altLang="zh-TW" dirty="0"/>
              <a:t>UDP</a:t>
            </a:r>
            <a:r>
              <a:rPr lang="zh-TW" altLang="en-US" dirty="0"/>
              <a:t>是走</a:t>
            </a:r>
            <a:r>
              <a:rPr lang="en-US" altLang="zh-TW" dirty="0"/>
              <a:t>User Mode</a:t>
            </a:r>
            <a:r>
              <a:rPr lang="zh-TW" altLang="en-US" dirty="0"/>
              <a:t>，用</a:t>
            </a:r>
            <a:r>
              <a:rPr lang="en-US" altLang="zh-TW" dirty="0"/>
              <a:t>VXLAN</a:t>
            </a:r>
            <a:r>
              <a:rPr lang="zh-TW" altLang="en-US" dirty="0"/>
              <a:t>是走</a:t>
            </a:r>
            <a:r>
              <a:rPr lang="en-US" altLang="zh-TW" dirty="0"/>
              <a:t>Kernel</a:t>
            </a:r>
            <a:r>
              <a:rPr lang="zh-TW" altLang="en-US" dirty="0"/>
              <a:t> </a:t>
            </a:r>
            <a:r>
              <a:rPr lang="en-US" altLang="zh-TW" dirty="0"/>
              <a:t>mode</a:t>
            </a:r>
            <a:r>
              <a:rPr lang="zh-TW" altLang="en-US" dirty="0"/>
              <a:t> 或稱為</a:t>
            </a:r>
            <a:r>
              <a:rPr lang="en-US" altLang="zh-TW" dirty="0"/>
              <a:t>monitor mode</a:t>
            </a:r>
            <a:r>
              <a:rPr lang="zh-TW" altLang="en-US" dirty="0"/>
              <a:t>，因為少了模式切換與</a:t>
            </a:r>
            <a:r>
              <a:rPr lang="en-US" altLang="zh-TW" dirty="0"/>
              <a:t>IO</a:t>
            </a:r>
            <a:r>
              <a:rPr lang="zh-TW" altLang="en-US" dirty="0"/>
              <a:t>等待，後者效能會好一點</a:t>
            </a:r>
          </a:p>
        </p:txBody>
      </p:sp>
    </p:spTree>
    <p:extLst>
      <p:ext uri="{BB962C8B-B14F-4D97-AF65-F5344CB8AC3E}">
        <p14:creationId xmlns:p14="http://schemas.microsoft.com/office/powerpoint/2010/main" val="17323177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3DAB18-40FB-4E71-BD90-E3339192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Flannel</a:t>
            </a:r>
            <a:r>
              <a:rPr lang="zh-TW" altLang="en-US" dirty="0"/>
              <a:t>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E1D5E3-9FD4-4B3C-AC66-318ECA8401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跟</a:t>
            </a:r>
            <a:r>
              <a:rPr lang="en-US" altLang="zh-TW" dirty="0"/>
              <a:t>VM</a:t>
            </a:r>
            <a:r>
              <a:rPr lang="zh-TW" altLang="en-US" dirty="0"/>
              <a:t>一樣還是做了一層虛擬化將</a:t>
            </a:r>
            <a:r>
              <a:rPr lang="en-US" altLang="zh-TW" dirty="0"/>
              <a:t>Overlay</a:t>
            </a:r>
            <a:r>
              <a:rPr lang="zh-TW" altLang="en-US" dirty="0"/>
              <a:t>的邏輯網路疊加在原本物理網路上，像分散式</a:t>
            </a:r>
            <a:r>
              <a:rPr lang="en-US" altLang="zh-TW" dirty="0"/>
              <a:t>AI</a:t>
            </a:r>
            <a:r>
              <a:rPr lang="zh-TW" altLang="en-US" dirty="0"/>
              <a:t>系統這種非常吃網路的應用並不太適合，那有沒有更好的方法</a:t>
            </a:r>
            <a:r>
              <a:rPr lang="en-US" altLang="zh-TW" dirty="0"/>
              <a:t>?</a:t>
            </a:r>
            <a:r>
              <a:rPr lang="zh-TW" altLang="en-US" dirty="0"/>
              <a:t> 有就是前面講的</a:t>
            </a:r>
            <a:r>
              <a:rPr lang="en-US" altLang="zh-TW" dirty="0"/>
              <a:t>Calico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7075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A0338A-B6E9-4772-9FB7-CAD7050B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Calico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198B3C-3BEA-4A6A-8A6F-6B3490C6D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Calico</a:t>
            </a:r>
            <a:r>
              <a:rPr lang="zh-TW" altLang="en-US" dirty="0"/>
              <a:t>就不走</a:t>
            </a:r>
            <a:r>
              <a:rPr lang="en-US" altLang="zh-TW" dirty="0"/>
              <a:t>Overlay</a:t>
            </a:r>
          </a:p>
          <a:p>
            <a:r>
              <a:rPr lang="zh-TW" altLang="en-US" dirty="0"/>
              <a:t>直接使用</a:t>
            </a:r>
            <a:r>
              <a:rPr lang="en-US" altLang="zh-TW" dirty="0"/>
              <a:t>Linux</a:t>
            </a:r>
            <a:r>
              <a:rPr lang="zh-TW" altLang="en-US" dirty="0"/>
              <a:t>內部的</a:t>
            </a:r>
            <a:r>
              <a:rPr lang="en-US" altLang="zh-TW" dirty="0"/>
              <a:t>iptables</a:t>
            </a:r>
            <a:r>
              <a:rPr lang="zh-TW" altLang="en-US" dirty="0"/>
              <a:t>將物理節點化身為一台路由器</a:t>
            </a:r>
            <a:endParaRPr lang="en-US" altLang="zh-TW" dirty="0"/>
          </a:p>
          <a:p>
            <a:r>
              <a:rPr lang="zh-TW" altLang="en-US" dirty="0"/>
              <a:t>並透過</a:t>
            </a:r>
            <a:r>
              <a:rPr lang="en-US" altLang="zh-TW" dirty="0"/>
              <a:t>BGP</a:t>
            </a:r>
            <a:r>
              <a:rPr lang="zh-TW" altLang="en-US" dirty="0"/>
              <a:t>協議管理</a:t>
            </a:r>
            <a:r>
              <a:rPr lang="zh-TW" altLang="en-US" b="1" dirty="0"/>
              <a:t>路由策略</a:t>
            </a:r>
            <a:r>
              <a:rPr lang="zh-TW" altLang="en-US" dirty="0"/>
              <a:t>如果節點很多還會需要</a:t>
            </a:r>
            <a:r>
              <a:rPr lang="en-US" altLang="zh-TW" dirty="0"/>
              <a:t>BGP reflector</a:t>
            </a:r>
            <a:r>
              <a:rPr lang="zh-TW" altLang="en-US" dirty="0"/>
              <a:t>去管理路由表</a:t>
            </a:r>
            <a:endParaRPr lang="en-US" altLang="zh-TW" dirty="0"/>
          </a:p>
          <a:p>
            <a:r>
              <a:rPr lang="zh-TW" altLang="en-US" dirty="0"/>
              <a:t>因為要走</a:t>
            </a:r>
            <a:r>
              <a:rPr lang="en-US" altLang="zh-TW" dirty="0"/>
              <a:t>BGP</a:t>
            </a:r>
            <a:r>
              <a:rPr lang="zh-TW" altLang="en-US" dirty="0"/>
              <a:t>所以需要有支持</a:t>
            </a:r>
            <a:r>
              <a:rPr lang="en-US" altLang="zh-TW" dirty="0"/>
              <a:t>BGP</a:t>
            </a:r>
            <a:r>
              <a:rPr lang="zh-TW" altLang="en-US" dirty="0"/>
              <a:t>的</a:t>
            </a:r>
            <a:r>
              <a:rPr lang="en-US" altLang="zh-TW" dirty="0"/>
              <a:t>Switch</a:t>
            </a:r>
            <a:r>
              <a:rPr lang="zh-TW" altLang="en-US" dirty="0"/>
              <a:t>或是</a:t>
            </a:r>
            <a:r>
              <a:rPr lang="en-US" altLang="zh-TW" dirty="0"/>
              <a:t>Router</a:t>
            </a:r>
            <a:r>
              <a:rPr lang="zh-TW" altLang="en-US" dirty="0"/>
              <a:t>才行，像在</a:t>
            </a:r>
            <a:r>
              <a:rPr lang="en-US" altLang="zh-TW" dirty="0"/>
              <a:t>GCP</a:t>
            </a:r>
            <a:r>
              <a:rPr lang="zh-TW" altLang="en-US" dirty="0"/>
              <a:t>這是而外收費功能</a:t>
            </a:r>
            <a:endParaRPr lang="en-US" altLang="zh-TW" dirty="0"/>
          </a:p>
          <a:p>
            <a:r>
              <a:rPr lang="zh-TW" altLang="en-US" dirty="0">
                <a:highlight>
                  <a:srgbClr val="FFFF00"/>
                </a:highlight>
              </a:rPr>
              <a:t>總之</a:t>
            </a:r>
            <a:r>
              <a:rPr lang="en-US" altLang="zh-TW" dirty="0">
                <a:highlight>
                  <a:srgbClr val="FFFF00"/>
                </a:highlight>
              </a:rPr>
              <a:t>Calico</a:t>
            </a:r>
            <a:r>
              <a:rPr lang="zh-TW" altLang="en-US" dirty="0">
                <a:highlight>
                  <a:srgbClr val="FFFF00"/>
                </a:highlight>
              </a:rPr>
              <a:t> 是目前比較優秀的 分散式</a:t>
            </a:r>
            <a:r>
              <a:rPr lang="en-US" altLang="zh-TW" dirty="0">
                <a:highlight>
                  <a:srgbClr val="FFFF00"/>
                </a:highlight>
              </a:rPr>
              <a:t>AI</a:t>
            </a:r>
            <a:r>
              <a:rPr lang="zh-TW" altLang="en-US" dirty="0">
                <a:highlight>
                  <a:srgbClr val="FFFF00"/>
                </a:highlight>
              </a:rPr>
              <a:t>網路解決方案，就看客官要錢還是要效能</a:t>
            </a:r>
          </a:p>
        </p:txBody>
      </p:sp>
    </p:spTree>
    <p:extLst>
      <p:ext uri="{BB962C8B-B14F-4D97-AF65-F5344CB8AC3E}">
        <p14:creationId xmlns:p14="http://schemas.microsoft.com/office/powerpoint/2010/main" val="21406472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CDB4A-753D-4460-A67C-E4378349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GPU/FPGA</a:t>
            </a:r>
            <a:r>
              <a:rPr lang="zh-TW" altLang="en-US" dirty="0"/>
              <a:t>與</a:t>
            </a:r>
            <a:r>
              <a:rPr lang="en-US" altLang="zh-TW" dirty="0"/>
              <a:t>K8S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11CDF5-FC56-4A90-A679-BC8F47B23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很多人吐槽</a:t>
            </a:r>
            <a:r>
              <a:rPr lang="en-US" altLang="zh-TW" dirty="0"/>
              <a:t>Yarn</a:t>
            </a:r>
            <a:r>
              <a:rPr lang="zh-TW" altLang="en-US" dirty="0"/>
              <a:t>的</a:t>
            </a:r>
            <a:r>
              <a:rPr lang="en-US" altLang="zh-TW" dirty="0"/>
              <a:t>GPU</a:t>
            </a:r>
            <a:r>
              <a:rPr lang="zh-TW" altLang="en-US" dirty="0"/>
              <a:t>支持不好，不過</a:t>
            </a:r>
            <a:r>
              <a:rPr lang="en-US" altLang="zh-TW" dirty="0"/>
              <a:t>K8s</a:t>
            </a:r>
            <a:r>
              <a:rPr lang="zh-TW" altLang="en-US" dirty="0"/>
              <a:t>也沒很好用，這跟</a:t>
            </a:r>
            <a:r>
              <a:rPr lang="en-US" altLang="zh-TW" dirty="0"/>
              <a:t>Google </a:t>
            </a:r>
            <a:r>
              <a:rPr lang="zh-TW" altLang="en-US" dirty="0"/>
              <a:t>公司策略有關，畢竟</a:t>
            </a:r>
            <a:r>
              <a:rPr lang="en-US" altLang="zh-TW" dirty="0"/>
              <a:t>Google</a:t>
            </a:r>
            <a:r>
              <a:rPr lang="zh-TW" altLang="en-US" dirty="0"/>
              <a:t>想賣</a:t>
            </a:r>
            <a:r>
              <a:rPr lang="en-US" altLang="zh-TW" dirty="0"/>
              <a:t> TPU</a:t>
            </a:r>
          </a:p>
          <a:p>
            <a:r>
              <a:rPr lang="zh-TW" altLang="en-US" dirty="0"/>
              <a:t>細粒度操作或是顯卡混插只能靠廠商自己</a:t>
            </a:r>
            <a:r>
              <a:rPr lang="en-US" altLang="zh-TW" dirty="0"/>
              <a:t>Git Fork</a:t>
            </a:r>
            <a:r>
              <a:rPr lang="zh-TW" altLang="en-US" dirty="0"/>
              <a:t> </a:t>
            </a:r>
            <a:r>
              <a:rPr lang="zh-TW" altLang="en-US"/>
              <a:t>做支援</a:t>
            </a:r>
            <a:endParaRPr lang="en-US" altLang="zh-TW" dirty="0"/>
          </a:p>
          <a:p>
            <a:r>
              <a:rPr lang="zh-TW" altLang="en-US" dirty="0"/>
              <a:t>靠</a:t>
            </a:r>
            <a:r>
              <a:rPr lang="en-US" altLang="zh-TW" dirty="0"/>
              <a:t>Device Plugin</a:t>
            </a:r>
            <a:r>
              <a:rPr lang="zh-TW" altLang="en-US" dirty="0"/>
              <a:t> 的</a:t>
            </a:r>
            <a:r>
              <a:rPr lang="en-US" altLang="zh-TW" dirty="0"/>
              <a:t>Extended Resources</a:t>
            </a:r>
            <a:r>
              <a:rPr lang="zh-TW" altLang="en-US" dirty="0"/>
              <a:t>字段配置</a:t>
            </a:r>
            <a:r>
              <a:rPr lang="en-US" altLang="zh-TW" dirty="0"/>
              <a:t>/</a:t>
            </a:r>
            <a:r>
              <a:rPr lang="zh-TW" altLang="en-US" dirty="0"/>
              <a:t>要求</a:t>
            </a:r>
            <a:r>
              <a:rPr lang="en-US" altLang="zh-TW" dirty="0"/>
              <a:t>GPU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66231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4846CB-6A33-4C31-9618-6F33477F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Mongo</a:t>
            </a:r>
            <a:r>
              <a:rPr lang="zh-TW" altLang="en-US" dirty="0"/>
              <a:t>與</a:t>
            </a:r>
            <a:r>
              <a:rPr lang="en-US" altLang="zh-TW" dirty="0"/>
              <a:t>K8s Spark</a:t>
            </a:r>
            <a:br>
              <a:rPr lang="en-US" altLang="zh-TW" dirty="0"/>
            </a:b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4E43BC-2460-4EBF-BE44-E99910C63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3</a:t>
            </a:r>
            <a:r>
              <a:rPr lang="zh-TW" altLang="en-US" dirty="0"/>
              <a:t> </a:t>
            </a:r>
            <a:r>
              <a:rPr lang="en-US" altLang="zh-TW" dirty="0"/>
              <a:t>Note</a:t>
            </a:r>
          </a:p>
          <a:p>
            <a:r>
              <a:rPr lang="zh-TW" altLang="en-US" dirty="0"/>
              <a:t>場景參考</a:t>
            </a:r>
            <a:r>
              <a:rPr lang="en-US" altLang="zh-TW" dirty="0"/>
              <a:t>:TJ</a:t>
            </a:r>
            <a:r>
              <a:rPr lang="zh-TW" altLang="en-US" dirty="0"/>
              <a:t>的</a:t>
            </a:r>
            <a:r>
              <a:rPr lang="en-US" altLang="zh-TW" dirty="0"/>
              <a:t>MongoDB + Spark: </a:t>
            </a:r>
            <a:r>
              <a:rPr lang="zh-TW" altLang="en-US" dirty="0"/>
              <a:t>完整的大数据解决方案</a:t>
            </a:r>
          </a:p>
          <a:p>
            <a:r>
              <a:rPr lang="zh-TW" altLang="en-US" dirty="0"/>
              <a:t>分片佈署</a:t>
            </a:r>
            <a:r>
              <a:rPr lang="en-US" altLang="zh-TW" dirty="0"/>
              <a:t>: </a:t>
            </a:r>
            <a:r>
              <a:rPr lang="en-US" altLang="zh-TW" dirty="0">
                <a:hlinkClick r:id="rId3"/>
              </a:rPr>
              <a:t>https://github.com/pkdone/gke-mongodb-demo</a:t>
            </a:r>
            <a:endParaRPr lang="en-US" altLang="zh-TW" dirty="0"/>
          </a:p>
          <a:p>
            <a:r>
              <a:rPr lang="zh-TW" altLang="en-US" dirty="0"/>
              <a:t>簡易配置</a:t>
            </a:r>
            <a:r>
              <a:rPr lang="en-US" altLang="zh-TW" dirty="0"/>
              <a:t>:</a:t>
            </a:r>
            <a:r>
              <a:rPr lang="en-US" altLang="zh-TW" dirty="0">
                <a:hlinkClick r:id="rId4"/>
              </a:rPr>
              <a:t> https://github.com/stefanprodan/mgob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2988494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78BD4-1E9E-4F9C-8F04-44EEEE56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F07488-CD36-4256-A4CC-4EDC442D8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趣談網路協定</a:t>
            </a:r>
            <a:endParaRPr lang="en-US" altLang="zh-TW" dirty="0"/>
          </a:p>
          <a:p>
            <a:r>
              <a:rPr lang="en-US" altLang="zh-TW" dirty="0"/>
              <a:t>Spark on docker solutions</a:t>
            </a:r>
          </a:p>
          <a:p>
            <a:r>
              <a:rPr lang="en-US" altLang="zh-TW" dirty="0" err="1"/>
              <a:t>BigDL</a:t>
            </a:r>
            <a:r>
              <a:rPr lang="en-US" altLang="zh-TW" dirty="0"/>
              <a:t>: Distributed Deep Learning Library for Apache Spark</a:t>
            </a:r>
          </a:p>
          <a:p>
            <a:r>
              <a:rPr lang="en-US" altLang="zh-TW" dirty="0"/>
              <a:t>TalkingData</a:t>
            </a:r>
            <a:r>
              <a:rPr lang="zh-TW" altLang="en-US" dirty="0"/>
              <a:t>的</a:t>
            </a:r>
            <a:r>
              <a:rPr lang="en-US" altLang="zh-TW" dirty="0"/>
              <a:t>Spark On Kubernetes</a:t>
            </a:r>
            <a:r>
              <a:rPr lang="zh-TW" altLang="en-US" dirty="0"/>
              <a:t>實踐</a:t>
            </a:r>
            <a:endParaRPr lang="zh-TW" altLang="en-US" dirty="0">
              <a:hlinkClick r:id="rId2"/>
            </a:endParaRPr>
          </a:p>
          <a:p>
            <a:r>
              <a:rPr lang="en-US" altLang="zh-TW" dirty="0"/>
              <a:t>Kubernetes</a:t>
            </a:r>
            <a:r>
              <a:rPr lang="zh-TW" altLang="en-US" dirty="0"/>
              <a:t>助力</a:t>
            </a:r>
            <a:r>
              <a:rPr lang="en-US" altLang="zh-TW" dirty="0"/>
              <a:t>Spark</a:t>
            </a:r>
            <a:r>
              <a:rPr lang="zh-TW" altLang="en-US" dirty="0"/>
              <a:t>大数据分析</a:t>
            </a:r>
          </a:p>
          <a:p>
            <a:r>
              <a:rPr lang="zh-CN" altLang="en-US" dirty="0"/>
              <a:t>基于 </a:t>
            </a:r>
            <a:r>
              <a:rPr lang="en-US" altLang="zh-CN" dirty="0" err="1"/>
              <a:t>Kubeflow</a:t>
            </a:r>
            <a:r>
              <a:rPr lang="en-US" altLang="zh-CN" dirty="0"/>
              <a:t> </a:t>
            </a:r>
            <a:r>
              <a:rPr lang="zh-CN" altLang="en-US" dirty="0"/>
              <a:t>的机器学习调度平台落地实战</a:t>
            </a:r>
            <a:endParaRPr lang="en-US" altLang="zh-CN" dirty="0"/>
          </a:p>
          <a:p>
            <a:endParaRPr lang="zh-CN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93376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F3F2D6-4109-49B2-A3A9-25D6FB032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</a:t>
            </a:r>
            <a:r>
              <a:rPr lang="zh-TW" altLang="en-US" dirty="0"/>
              <a:t> </a:t>
            </a:r>
            <a:r>
              <a:rPr lang="en-US" altLang="zh-TW" dirty="0"/>
              <a:t>For Your Attention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ECD4EA-1C91-4189-8826-051684375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zh-TW" altLang="en-US" sz="5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0526291-23FD-4327-8373-BDEA439DB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955" y="1853754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35739"/>
      </p:ext>
    </p:extLst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圖庫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圖庫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圖庫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</TotalTime>
  <Words>4476</Words>
  <Application>Microsoft Office PowerPoint</Application>
  <PresentationFormat>寬螢幕</PresentationFormat>
  <Paragraphs>2777</Paragraphs>
  <Slides>45</Slides>
  <Notes>34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49" baseType="lpstr">
      <vt:lpstr>Arial</vt:lpstr>
      <vt:lpstr>Calibri</vt:lpstr>
      <vt:lpstr>Gill Sans MT</vt:lpstr>
      <vt:lpstr>圖庫</vt:lpstr>
      <vt:lpstr>公有雲, K8s, MongoDB的特性對AI System優化以Spark為例 </vt:lpstr>
      <vt:lpstr>大綱</vt:lpstr>
      <vt:lpstr>公有雲為何又紅了!這次真的會一直紅下去嗎? </vt:lpstr>
      <vt:lpstr>容器的出現 </vt:lpstr>
      <vt:lpstr>K8s出現 </vt:lpstr>
      <vt:lpstr>Infrastructure as code and CI/CD  tool 成熟  </vt:lpstr>
      <vt:lpstr>成本考量 </vt:lpstr>
      <vt:lpstr>調度平台很多，為何用K8s?</vt:lpstr>
      <vt:lpstr>調度平台很多，為何用K8s?</vt:lpstr>
      <vt:lpstr>調度平台很多，為何用K8s?</vt:lpstr>
      <vt:lpstr>調度平台很多，為何用K8s?</vt:lpstr>
      <vt:lpstr>K8s, GKE那些特性可以提升Spark效能</vt:lpstr>
      <vt:lpstr>K8s feature for spark </vt:lpstr>
      <vt:lpstr>K8s feature for spark </vt:lpstr>
      <vt:lpstr>K8s feature for spark </vt:lpstr>
      <vt:lpstr>PowerPoint 簡報</vt:lpstr>
      <vt:lpstr>PowerPoint 簡報</vt:lpstr>
      <vt:lpstr>GKE feature for spark   </vt:lpstr>
      <vt:lpstr>在進入下半段K8s網路原理之前來段小故事</vt:lpstr>
      <vt:lpstr>Story Time:  Google與Apache的恩怨情仇</vt:lpstr>
      <vt:lpstr>Story Time:  Google與Apache的恩怨情仇</vt:lpstr>
      <vt:lpstr>Google工程師共分11級 </vt:lpstr>
      <vt:lpstr>PowerPoint 簡報</vt:lpstr>
      <vt:lpstr>Story Time:  Google與Apache的恩怨情仇</vt:lpstr>
      <vt:lpstr>Story Time:  Google與Apache的恩怨情仇</vt:lpstr>
      <vt:lpstr>Story Time:  Google與Apache的恩怨情仇</vt:lpstr>
      <vt:lpstr>Story Time:  Google與Apache的恩怨情仇</vt:lpstr>
      <vt:lpstr>CNI與提升Spark效能</vt:lpstr>
      <vt:lpstr>Docker Network </vt:lpstr>
      <vt:lpstr>Docker Network </vt:lpstr>
      <vt:lpstr>NAT協定</vt:lpstr>
      <vt:lpstr>NAT協定</vt:lpstr>
      <vt:lpstr>NAT協定</vt:lpstr>
      <vt:lpstr>問題1: 網路消耗很大</vt:lpstr>
      <vt:lpstr>Flannel </vt:lpstr>
      <vt:lpstr>Flannel </vt:lpstr>
      <vt:lpstr>Flannel </vt:lpstr>
      <vt:lpstr>CNI : Flannel  </vt:lpstr>
      <vt:lpstr>CNI : Flannel </vt:lpstr>
      <vt:lpstr>Flannel問題</vt:lpstr>
      <vt:lpstr>Calico </vt:lpstr>
      <vt:lpstr>GPU/FPGA與K8S</vt:lpstr>
      <vt:lpstr>Mongo與K8s Spark  </vt:lpstr>
      <vt:lpstr>Ref</vt:lpstr>
      <vt:lpstr>Thank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根 雷</dc:creator>
  <cp:lastModifiedBy>Ted Ted</cp:lastModifiedBy>
  <cp:revision>280</cp:revision>
  <dcterms:created xsi:type="dcterms:W3CDTF">2019-07-01T06:10:55Z</dcterms:created>
  <dcterms:modified xsi:type="dcterms:W3CDTF">2026-06-22T11:07:24Z</dcterms:modified>
</cp:coreProperties>
</file>